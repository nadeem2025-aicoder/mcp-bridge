
<file path=[Content_Types].xml><?xml version="1.0" encoding="utf-8"?>
<Types xmlns="http://schemas.openxmlformats.org/package/2006/content-types">
  <Override PartName="/ppt/slides/slide6.xml" ContentType="application/vnd.openxmlformats-officedocument.presentationml.slide+xml"/>
  <Override PartName="/ppt/slides/slide29.xml" ContentType="application/vnd.openxmlformats-officedocument.presentationml.slide+xml"/>
  <Override PartName="/ppt/slides/slide38.xml" ContentType="application/vnd.openxmlformats-officedocument.presentationml.slide+xml"/>
  <Override PartName="/ppt/slides/slide47.xml" ContentType="application/vnd.openxmlformats-officedocument.presentationml.slide+xml"/>
  <Override PartName="/ppt/slides/slide56.xml" ContentType="application/vnd.openxmlformats-officedocument.presentationml.slide+xml"/>
  <Override PartName="/ppt/slides/slide58.xml" ContentType="application/vnd.openxmlformats-officedocument.presentationml.slide+xml"/>
  <Override PartName="/ppt/slideLayouts/slideLayout8.xml" ContentType="application/vnd.openxmlformats-officedocument.presentationml.slideLayout+xml"/>
  <Override PartName="/ppt/slideMasters/slideMaster1.xml" ContentType="application/vnd.openxmlformats-officedocument.presentationml.slideMaster+xml"/>
  <Override PartName="/ppt/slides/slide4.xml" ContentType="application/vnd.openxmlformats-officedocument.presentationml.slide+xml"/>
  <Override PartName="/ppt/slides/slide18.xml" ContentType="application/vnd.openxmlformats-officedocument.presentationml.slide+xml"/>
  <Override PartName="/ppt/slides/slide27.xml" ContentType="application/vnd.openxmlformats-officedocument.presentationml.slide+xml"/>
  <Override PartName="/ppt/slides/slide36.xml" ContentType="application/vnd.openxmlformats-officedocument.presentationml.slide+xml"/>
  <Override PartName="/ppt/slides/slide45.xml" ContentType="application/vnd.openxmlformats-officedocument.presentationml.slide+xml"/>
  <Override PartName="/ppt/slides/slide54.xml" ContentType="application/vnd.openxmlformats-officedocument.presentationml.slide+xml"/>
  <Override PartName="/ppt/slideLayouts/slideLayout4.xml" ContentType="application/vnd.openxmlformats-officedocument.presentationml.slideLayout+xml"/>
  <Override PartName="/ppt/slideLayouts/slideLayout6.xml" ContentType="application/vnd.openxmlformats-officedocument.presentationml.slideLayout+xml"/>
  <Override PartName="/ppt/slides/slide2.xml" ContentType="application/vnd.openxmlformats-officedocument.presentationml.slide+xml"/>
  <Override PartName="/ppt/slides/slide16.xml" ContentType="application/vnd.openxmlformats-officedocument.presentationml.slide+xml"/>
  <Override PartName="/ppt/slides/slide25.xml" ContentType="application/vnd.openxmlformats-officedocument.presentationml.slide+xml"/>
  <Override PartName="/ppt/slides/slide34.xml" ContentType="application/vnd.openxmlformats-officedocument.presentationml.slide+xml"/>
  <Override PartName="/ppt/slides/slide43.xml" ContentType="application/vnd.openxmlformats-officedocument.presentationml.slide+xml"/>
  <Override PartName="/ppt/slides/slide52.xml" ContentType="application/vnd.openxmlformats-officedocument.presentationml.slide+xml"/>
  <Override PartName="/ppt/slides/slide63.xml" ContentType="application/vnd.openxmlformats-officedocument.presentationml.slide+xml"/>
  <Override PartName="/ppt/theme/theme1.xml" ContentType="application/vnd.openxmlformats-officedocument.theme+xml"/>
  <Override PartName="/ppt/slideLayouts/slideLayout2.xml" ContentType="application/vnd.openxmlformats-officedocument.presentationml.slideLayout+xml"/>
  <Default Extension="rels" ContentType="application/vnd.openxmlformats-package.relationships+xml"/>
  <Default Extension="xml" ContentType="application/xml"/>
  <Override PartName="/ppt/slides/slide14.xml" ContentType="application/vnd.openxmlformats-officedocument.presentationml.slide+xml"/>
  <Override PartName="/ppt/slides/slide23.xml" ContentType="application/vnd.openxmlformats-officedocument.presentationml.slide+xml"/>
  <Override PartName="/ppt/slides/slide32.xml" ContentType="application/vnd.openxmlformats-officedocument.presentationml.slide+xml"/>
  <Override PartName="/ppt/slides/slide41.xml" ContentType="application/vnd.openxmlformats-officedocument.presentationml.slide+xml"/>
  <Override PartName="/ppt/slides/slide50.xml" ContentType="application/vnd.openxmlformats-officedocument.presentationml.slide+xml"/>
  <Override PartName="/ppt/slides/slide61.xml" ContentType="application/vnd.openxmlformats-officedocument.presentationml.slide+xml"/>
  <Override PartName="/ppt/slides/slide10.xml" ContentType="application/vnd.openxmlformats-officedocument.presentationml.slide+xml"/>
  <Override PartName="/ppt/slides/slide12.xml" ContentType="application/vnd.openxmlformats-officedocument.presentationml.slide+xml"/>
  <Override PartName="/ppt/slides/slide21.xml" ContentType="application/vnd.openxmlformats-officedocument.presentationml.slide+xml"/>
  <Override PartName="/ppt/slides/slide30.xml" ContentType="application/vnd.openxmlformats-officedocument.presentationml.slide+xml"/>
  <Override PartName="/ppt/tableStyles.xml" ContentType="application/vnd.openxmlformats-officedocument.presentationml.tableStyles+xml"/>
  <Override PartName="/ppt/slideLayouts/slideLayout11.xml" ContentType="application/vnd.openxmlformats-officedocument.presentationml.slideLayout+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49.xml" ContentType="application/vnd.openxmlformats-officedocument.presentationml.slide+xml"/>
  <Override PartName="/ppt/slides/slide59.xml" ContentType="application/vnd.openxmlformats-officedocument.presentationml.slide+xml"/>
  <Override PartName="/ppt/viewProps.xml" ContentType="application/vnd.openxmlformats-officedocument.presentationml.viewProps+xml"/>
  <Override PartName="/ppt/slideLayouts/slideLayout9.xml" ContentType="application/vnd.openxmlformats-officedocument.presentationml.slideLayout+xml"/>
  <Override PartName="/docProps/core.xml" ContentType="application/vnd.openxmlformats-package.core-properties+xml"/>
  <Override PartName="/ppt/slides/slide5.xml" ContentType="application/vnd.openxmlformats-officedocument.presentationml.slide+xml"/>
  <Override PartName="/ppt/slides/slide19.xml" ContentType="application/vnd.openxmlformats-officedocument.presentationml.slide+xml"/>
  <Override PartName="/ppt/slides/slide28.xml" ContentType="application/vnd.openxmlformats-officedocument.presentationml.slide+xml"/>
  <Override PartName="/ppt/slides/slide39.xml" ContentType="application/vnd.openxmlformats-officedocument.presentationml.slide+xml"/>
  <Override PartName="/ppt/slides/slide48.xml" ContentType="application/vnd.openxmlformats-officedocument.presentationml.slide+xml"/>
  <Override PartName="/ppt/slides/slide57.xml" ContentType="application/vnd.openxmlformats-officedocument.presentationml.slide+xml"/>
  <Override PartName="/ppt/slideLayouts/slideLayout7.xml" ContentType="application/vnd.openxmlformats-officedocument.presentationml.slideLayout+xml"/>
  <Override PartName="/ppt/slides/slide3.xml" ContentType="application/vnd.openxmlformats-officedocument.presentationml.slide+xml"/>
  <Override PartName="/ppt/slides/slide17.xml" ContentType="application/vnd.openxmlformats-officedocument.presentationml.slide+xml"/>
  <Override PartName="/ppt/slides/slide26.xml" ContentType="application/vnd.openxmlformats-officedocument.presentationml.slide+xml"/>
  <Override PartName="/ppt/slides/slide37.xml" ContentType="application/vnd.openxmlformats-officedocument.presentationml.slide+xml"/>
  <Override PartName="/ppt/slides/slide46.xml" ContentType="application/vnd.openxmlformats-officedocument.presentationml.slide+xml"/>
  <Override PartName="/ppt/slides/slide55.xml" ContentType="application/vnd.openxmlformats-officedocument.presentationml.slide+xml"/>
  <Override PartName="/ppt/presProps.xml" ContentType="application/vnd.openxmlformats-officedocument.presentationml.presProps+xml"/>
  <Override PartName="/ppt/slideLayouts/slideLayout5.xml" ContentType="application/vnd.openxmlformats-officedocument.presentationml.slideLayout+xml"/>
  <Override PartName="/ppt/slides/slide1.xml" ContentType="application/vnd.openxmlformats-officedocument.presentationml.slide+xml"/>
  <Override PartName="/ppt/slides/slide15.xml" ContentType="application/vnd.openxmlformats-officedocument.presentationml.slide+xml"/>
  <Override PartName="/ppt/slides/slide24.xml" ContentType="application/vnd.openxmlformats-officedocument.presentationml.slide+xml"/>
  <Override PartName="/ppt/slides/slide33.xml" ContentType="application/vnd.openxmlformats-officedocument.presentationml.slide+xml"/>
  <Override PartName="/ppt/slides/slide35.xml" ContentType="application/vnd.openxmlformats-officedocument.presentationml.slide+xml"/>
  <Override PartName="/ppt/slides/slide44.xml" ContentType="application/vnd.openxmlformats-officedocument.presentationml.slide+xml"/>
  <Override PartName="/ppt/slides/slide53.xml" ContentType="application/vnd.openxmlformats-officedocument.presentationml.slide+xml"/>
  <Override PartName="/ppt/slides/slide62.xml" ContentType="application/vnd.openxmlformats-officedocument.presentationml.slide+xml"/>
  <Override PartName="/ppt/slideLayouts/slideLayout3.xml" ContentType="application/vnd.openxmlformats-officedocument.presentationml.slideLayout+xml"/>
  <Default Extension="jpeg" ContentType="image/jpeg"/>
  <Override PartName="/ppt/presentation.xml" ContentType="application/vnd.openxmlformats-officedocument.presentationml.presentation.main+xml"/>
  <Override PartName="/ppt/slides/slide13.xml" ContentType="application/vnd.openxmlformats-officedocument.presentationml.slide+xml"/>
  <Override PartName="/ppt/slides/slide22.xml" ContentType="application/vnd.openxmlformats-officedocument.presentationml.slide+xml"/>
  <Override PartName="/ppt/slides/slide31.xml" ContentType="application/vnd.openxmlformats-officedocument.presentationml.slide+xml"/>
  <Override PartName="/ppt/slides/slide42.xml" ContentType="application/vnd.openxmlformats-officedocument.presentationml.slide+xml"/>
  <Override PartName="/ppt/slides/slide51.xml" ContentType="application/vnd.openxmlformats-officedocument.presentationml.slide+xml"/>
  <Override PartName="/ppt/slides/slide60.xml" ContentType="application/vnd.openxmlformats-officedocument.presentationml.slide+xml"/>
  <Override PartName="/ppt/slideLayouts/slideLayout1.xml" ContentType="application/vnd.openxmlformats-officedocument.presentationml.slideLayout+xml"/>
  <Override PartName="/docProps/app.xml" ContentType="application/vnd.openxmlformats-officedocument.extended-properties+xml"/>
  <Override PartName="/ppt/slides/slide11.xml" ContentType="application/vnd.openxmlformats-officedocument.presentationml.slide+xml"/>
  <Override PartName="/ppt/slides/slide20.xml" ContentType="application/vnd.openxmlformats-officedocument.presentationml.slide+xml"/>
  <Override PartName="/ppt/slides/slide40.xml" ContentType="application/vnd.openxmlformats-officedocument.presentationml.slide+xml"/>
  <Override PartName="/ppt/slideLayouts/slideLayout10.xml" ContentType="application/vnd.openxmlformats-officedocument.presentationml.slideLayout+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5" r:id="rId41"/>
    <p:sldId id="296" r:id="rId42"/>
    <p:sldId id="297" r:id="rId43"/>
    <p:sldId id="298" r:id="rId44"/>
    <p:sldId id="299" r:id="rId45"/>
    <p:sldId id="300" r:id="rId46"/>
    <p:sldId id="301" r:id="rId47"/>
    <p:sldId id="302" r:id="rId48"/>
    <p:sldId id="303" r:id="rId49"/>
    <p:sldId id="304" r:id="rId50"/>
    <p:sldId id="305" r:id="rId51"/>
    <p:sldId id="306" r:id="rId52"/>
    <p:sldId id="307" r:id="rId53"/>
    <p:sldId id="308" r:id="rId54"/>
    <p:sldId id="309" r:id="rId55"/>
    <p:sldId id="310" r:id="rId56"/>
    <p:sldId id="311" r:id="rId57"/>
    <p:sldId id="312" r:id="rId58"/>
    <p:sldId id="313" r:id="rId59"/>
    <p:sldId id="314" r:id="rId60"/>
    <p:sldId id="315" r:id="rId61"/>
    <p:sldId id="316" r:id="rId62"/>
    <p:sldId id="317" r:id="rId63"/>
    <p:sldId id="318" r:id="rId64"/>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showOutlineIcons="0">
    <p:restoredLeft sz="15620"/>
    <p:restoredTop sz="94660"/>
  </p:normalViewPr>
  <p:slideViewPr>
    <p:cSldViewPr>
      <p:cViewPr varScale="1">
        <p:scale>
          <a:sx n="53" d="100"/>
          <a:sy n="53" d="100"/>
        </p:scale>
        <p:origin x="-96" y="-378"/>
      </p:cViewPr>
      <p:guideLst>
        <p:guide orient="horz" pos="2160"/>
        <p:guide pos="2880"/>
      </p:guideLst>
    </p:cSldViewPr>
  </p:slideViewPr>
  <p:notesTextViewPr>
    <p:cViewPr>
      <p:scale>
        <a:sx n="100" d="100"/>
        <a:sy n="100" d="100"/>
      </p:scale>
      <p:origin x="0" y="0"/>
    </p:cViewPr>
  </p:notesTextViewPr>
  <p:gridSpacing cx="78028800" cy="780288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slide" Target="slides/slide49.xml"/><Relationship Id="rId55" Type="http://schemas.openxmlformats.org/officeDocument/2006/relationships/slide" Target="slides/slide54.xml"/><Relationship Id="rId63" Type="http://schemas.openxmlformats.org/officeDocument/2006/relationships/slide" Target="slides/slide62.xml"/><Relationship Id="rId68" Type="http://schemas.openxmlformats.org/officeDocument/2006/relationships/tableStyles" Target="tableStyle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slide" Target="slides/slide57.xml"/><Relationship Id="rId66"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61" Type="http://schemas.openxmlformats.org/officeDocument/2006/relationships/slide" Target="slides/slide60.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slide" Target="slides/slide63.xml"/><Relationship Id="rId8" Type="http://schemas.openxmlformats.org/officeDocument/2006/relationships/slide" Target="slides/slide7.xml"/><Relationship Id="rId51" Type="http://schemas.openxmlformats.org/officeDocument/2006/relationships/slide" Target="slides/slide50.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theme" Target="theme/theme1.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4/30/2018</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4/30/2018</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4/30/2018</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1D8BD707-D9CF-40AE-B4C6-C98DA3205C09}" type="datetimeFigureOut">
              <a:rPr lang="en-US" smtClean="0"/>
              <a:pPr/>
              <a:t>4/30/2018</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1D8BD707-D9CF-40AE-B4C6-C98DA3205C09}" type="datetimeFigureOut">
              <a:rPr lang="en-US" smtClean="0"/>
              <a:pPr/>
              <a:t>4/30/2018</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1D8BD707-D9CF-40AE-B4C6-C98DA3205C09}" type="datetimeFigureOut">
              <a:rPr lang="en-US" smtClean="0"/>
              <a:pPr/>
              <a:t>4/30/2018</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4/30/2018</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4/30/2018</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4/30/2018</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4/30/2018</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4/30/2018</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4/30/2018</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normAutofit fontScale="90000"/>
          </a:bodyPr>
          <a:lstStyle/>
          <a:p>
            <a:r>
              <a:rPr lang="en-US" b="1" dirty="0" smtClean="0"/>
              <a:t>ISO45001:2018</a:t>
            </a:r>
            <a:br>
              <a:rPr lang="en-US" b="1" dirty="0" smtClean="0"/>
            </a:br>
            <a:r>
              <a:rPr lang="en-US" b="1" dirty="0" smtClean="0"/>
              <a:t>Occupational Health and Safety Management System</a:t>
            </a:r>
            <a:br>
              <a:rPr lang="en-US" b="1" dirty="0" smtClean="0"/>
            </a:br>
            <a:r>
              <a:rPr lang="en-US" b="1" dirty="0" smtClean="0"/>
              <a:t>OHSMS</a:t>
            </a:r>
            <a:endParaRPr lang="en-US" b="1" dirty="0"/>
          </a:p>
        </p:txBody>
      </p:sp>
      <p:sp>
        <p:nvSpPr>
          <p:cNvPr id="3" name="Subtitle 2"/>
          <p:cNvSpPr>
            <a:spLocks noGrp="1"/>
          </p:cNvSpPr>
          <p:nvPr>
            <p:ph type="subTitle" idx="1"/>
          </p:nvPr>
        </p:nvSpPr>
        <p:spPr>
          <a:xfrm>
            <a:off x="1371600" y="4343400"/>
            <a:ext cx="6400800" cy="1295400"/>
          </a:xfrm>
        </p:spPr>
        <p:txBody>
          <a:bodyPr/>
          <a:lstStyle/>
          <a:p>
            <a:r>
              <a:rPr lang="en-US" b="1" dirty="0" smtClean="0">
                <a:solidFill>
                  <a:schemeClr val="tx1"/>
                </a:solidFill>
              </a:rPr>
              <a:t>Eng. Nasser </a:t>
            </a:r>
            <a:r>
              <a:rPr lang="en-US" b="1" dirty="0" err="1" smtClean="0">
                <a:solidFill>
                  <a:schemeClr val="tx1"/>
                </a:solidFill>
              </a:rPr>
              <a:t>Mahmoud</a:t>
            </a:r>
            <a:endParaRPr lang="en-US" b="1" dirty="0">
              <a:solidFill>
                <a:schemeClr val="tx1"/>
              </a:solidFill>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868362"/>
          </a:xfrm>
        </p:spPr>
        <p:txBody>
          <a:bodyPr>
            <a:normAutofit/>
          </a:bodyPr>
          <a:lstStyle/>
          <a:p>
            <a:r>
              <a:rPr lang="en-US" sz="4000" b="1" dirty="0" smtClean="0"/>
              <a:t>1. Scope</a:t>
            </a:r>
            <a:r>
              <a:rPr lang="ar-EG" sz="4000" b="1" dirty="0" smtClean="0"/>
              <a:t> المجال </a:t>
            </a:r>
            <a:endParaRPr lang="en-US" sz="4000" b="1" dirty="0"/>
          </a:p>
        </p:txBody>
      </p:sp>
      <p:sp>
        <p:nvSpPr>
          <p:cNvPr id="3" name="Content Placeholder 2"/>
          <p:cNvSpPr>
            <a:spLocks noGrp="1"/>
          </p:cNvSpPr>
          <p:nvPr>
            <p:ph idx="1"/>
          </p:nvPr>
        </p:nvSpPr>
        <p:spPr>
          <a:xfrm>
            <a:off x="457200" y="1219200"/>
            <a:ext cx="8229600" cy="5257800"/>
          </a:xfrm>
        </p:spPr>
        <p:txBody>
          <a:bodyPr/>
          <a:lstStyle/>
          <a:p>
            <a:pPr algn="r" rtl="1"/>
            <a:r>
              <a:rPr lang="ar-EG" dirty="0" smtClean="0"/>
              <a:t>تنطبق هذه المواصفة علي اي مؤسسة ترغب في انشاء وتطبيق والمحافظة علي نظام لادارة السلامة وتحسينها وازالة الاخطار وتقليل المخاطر والاستفادة من مميزات السلامة وتحديد حالات عدم المطابقة في نظام ادارة السلامة.</a:t>
            </a:r>
          </a:p>
          <a:p>
            <a:pPr algn="r" rtl="1"/>
            <a:r>
              <a:rPr lang="ar-EG" dirty="0" smtClean="0"/>
              <a:t>تساعد هذه المواصفة المؤسسة علي تحقيق اهداف السلامة المتوافقة مع سياسة السلامة بها والتي تشمل:</a:t>
            </a:r>
          </a:p>
          <a:p>
            <a:pPr algn="r" rtl="1"/>
            <a:r>
              <a:rPr lang="ar-EG" dirty="0" smtClean="0"/>
              <a:t>التحسين المستمر لاداء السلامة.</a:t>
            </a:r>
          </a:p>
          <a:p>
            <a:pPr algn="r" rtl="1"/>
            <a:r>
              <a:rPr lang="ar-EG" dirty="0" smtClean="0"/>
              <a:t>تحقيق المتطلبات القانونية والالزامية الاخري.</a:t>
            </a:r>
          </a:p>
          <a:p>
            <a:pPr algn="r" rtl="1"/>
            <a:r>
              <a:rPr lang="ar-EG" dirty="0" smtClean="0"/>
              <a:t>تحقيق اهداف السلامة.</a:t>
            </a:r>
            <a:endParaRPr lang="en-US"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868362"/>
          </a:xfrm>
        </p:spPr>
        <p:txBody>
          <a:bodyPr>
            <a:normAutofit/>
          </a:bodyPr>
          <a:lstStyle/>
          <a:p>
            <a:r>
              <a:rPr lang="en-US" sz="4000" b="1" dirty="0" smtClean="0"/>
              <a:t>2. Normative references </a:t>
            </a:r>
            <a:r>
              <a:rPr lang="ar-EG" sz="4000" b="1" dirty="0" smtClean="0"/>
              <a:t>المراجع </a:t>
            </a:r>
            <a:endParaRPr lang="en-US" sz="4000" b="1" dirty="0"/>
          </a:p>
        </p:txBody>
      </p:sp>
      <p:sp>
        <p:nvSpPr>
          <p:cNvPr id="3" name="Content Placeholder 2"/>
          <p:cNvSpPr>
            <a:spLocks noGrp="1"/>
          </p:cNvSpPr>
          <p:nvPr>
            <p:ph idx="1"/>
          </p:nvPr>
        </p:nvSpPr>
        <p:spPr>
          <a:xfrm>
            <a:off x="457200" y="1219200"/>
            <a:ext cx="8229600" cy="5257800"/>
          </a:xfrm>
        </p:spPr>
        <p:txBody>
          <a:bodyPr/>
          <a:lstStyle/>
          <a:p>
            <a:pPr algn="r" rtl="1"/>
            <a:r>
              <a:rPr lang="ar-EG" dirty="0" smtClean="0"/>
              <a:t>هذه المواصفة ليس لها مرجعيات سابقة</a:t>
            </a:r>
            <a:endParaRPr lang="en-US"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944562"/>
          </a:xfrm>
        </p:spPr>
        <p:txBody>
          <a:bodyPr>
            <a:normAutofit/>
          </a:bodyPr>
          <a:lstStyle/>
          <a:p>
            <a:r>
              <a:rPr lang="en-US" sz="4000" b="1" dirty="0" smtClean="0"/>
              <a:t>3. Definitions </a:t>
            </a:r>
            <a:r>
              <a:rPr lang="ar-EG" sz="4000" b="1" dirty="0" smtClean="0"/>
              <a:t>التعريفات</a:t>
            </a:r>
            <a:endParaRPr lang="en-US" sz="4000" b="1" dirty="0"/>
          </a:p>
        </p:txBody>
      </p:sp>
      <p:sp>
        <p:nvSpPr>
          <p:cNvPr id="3" name="Content Placeholder 2"/>
          <p:cNvSpPr>
            <a:spLocks noGrp="1"/>
          </p:cNvSpPr>
          <p:nvPr>
            <p:ph idx="1"/>
          </p:nvPr>
        </p:nvSpPr>
        <p:spPr>
          <a:xfrm>
            <a:off x="457200" y="1295400"/>
            <a:ext cx="8229600" cy="5181600"/>
          </a:xfrm>
        </p:spPr>
        <p:txBody>
          <a:bodyPr/>
          <a:lstStyle/>
          <a:p>
            <a:pPr algn="r" rtl="1"/>
            <a:r>
              <a:rPr lang="ar-EG" dirty="0" smtClean="0"/>
              <a:t>الاطراف المهتمة: شخص او مؤسسة يؤثر او يتأثر او يعتقد انه يتأثر بانشطة المؤسسة وقراراتها.</a:t>
            </a:r>
          </a:p>
          <a:p>
            <a:pPr algn="r" rtl="1"/>
            <a:r>
              <a:rPr lang="ar-EG" dirty="0" smtClean="0"/>
              <a:t>العامل: شخص يؤدي عمل تحت ادارة المؤسسة.</a:t>
            </a:r>
          </a:p>
          <a:p>
            <a:pPr algn="r" rtl="1"/>
            <a:r>
              <a:rPr lang="ar-EG" dirty="0" smtClean="0"/>
              <a:t>مكان العمل: مكان تحت ادارة المؤسسة يحتاج العامل ان يكون فية او يذهب الية لتنفيذ العمل.</a:t>
            </a:r>
          </a:p>
          <a:p>
            <a:pPr algn="r" rtl="1"/>
            <a:r>
              <a:rPr lang="ar-EG" dirty="0" smtClean="0"/>
              <a:t>المقاول: شركة خارجية تقدم خدمة للمؤسسة طبقا لاتفاق وشروط محددة.</a:t>
            </a:r>
          </a:p>
          <a:p>
            <a:pPr algn="r" rtl="1"/>
            <a:r>
              <a:rPr lang="ar-EG" dirty="0" smtClean="0"/>
              <a:t>متطلبات: احتياجات او توقعات محددة</a:t>
            </a:r>
            <a:endParaRPr lang="en-US"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944562"/>
          </a:xfrm>
        </p:spPr>
        <p:txBody>
          <a:bodyPr>
            <a:normAutofit/>
          </a:bodyPr>
          <a:lstStyle/>
          <a:p>
            <a:r>
              <a:rPr lang="en-US" sz="4000" b="1" dirty="0" smtClean="0"/>
              <a:t>3. Definitions </a:t>
            </a:r>
            <a:r>
              <a:rPr lang="ar-EG" sz="4000" b="1" dirty="0" smtClean="0"/>
              <a:t>التعريفات</a:t>
            </a:r>
            <a:endParaRPr lang="en-US" sz="4000" b="1" dirty="0"/>
          </a:p>
        </p:txBody>
      </p:sp>
      <p:sp>
        <p:nvSpPr>
          <p:cNvPr id="3" name="Content Placeholder 2"/>
          <p:cNvSpPr>
            <a:spLocks noGrp="1"/>
          </p:cNvSpPr>
          <p:nvPr>
            <p:ph idx="1"/>
          </p:nvPr>
        </p:nvSpPr>
        <p:spPr>
          <a:xfrm>
            <a:off x="457200" y="1295400"/>
            <a:ext cx="8229600" cy="5181600"/>
          </a:xfrm>
        </p:spPr>
        <p:txBody>
          <a:bodyPr>
            <a:normAutofit lnSpcReduction="10000"/>
          </a:bodyPr>
          <a:lstStyle/>
          <a:p>
            <a:pPr algn="r" rtl="1"/>
            <a:r>
              <a:rPr lang="ar-EG" dirty="0" smtClean="0"/>
              <a:t>نظام ادارة السلامة: نظام للادارة يستخدم لتحقيق سياسة السلامة.</a:t>
            </a:r>
          </a:p>
          <a:p>
            <a:pPr algn="r" rtl="1"/>
            <a:r>
              <a:rPr lang="ar-EG" dirty="0" smtClean="0"/>
              <a:t>السياسة: اهتمام وتوجة المؤسسة وتصدر رسميا من الادارة العليا.</a:t>
            </a:r>
          </a:p>
          <a:p>
            <a:pPr algn="r" rtl="1"/>
            <a:r>
              <a:rPr lang="ar-EG" dirty="0" smtClean="0"/>
              <a:t>سياسة السلامة: هي سياسة منع حوادث واصابات وامراض العمل وتوفير بيئة عمل امنة وصحية.</a:t>
            </a:r>
          </a:p>
          <a:p>
            <a:pPr algn="r" rtl="1"/>
            <a:r>
              <a:rPr lang="ar-EG" dirty="0" smtClean="0"/>
              <a:t>الاهداف: النتائج المطلوب تحقيقها.</a:t>
            </a:r>
          </a:p>
          <a:p>
            <a:pPr algn="r" rtl="1"/>
            <a:r>
              <a:rPr lang="ar-EG" dirty="0" smtClean="0"/>
              <a:t>الاخطار: مصدر يمكن ان يسبب اصابة او مرض.</a:t>
            </a:r>
          </a:p>
          <a:p>
            <a:pPr algn="r" rtl="1"/>
            <a:r>
              <a:rPr lang="ar-EG" dirty="0" smtClean="0"/>
              <a:t>المخاطر: التأثيرات الغير مرغوبة وهي خليط من احتمالية وقوع الخطر وعواقبة</a:t>
            </a:r>
            <a:endParaRPr lang="en-US"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944562"/>
          </a:xfrm>
        </p:spPr>
        <p:txBody>
          <a:bodyPr>
            <a:normAutofit/>
          </a:bodyPr>
          <a:lstStyle/>
          <a:p>
            <a:r>
              <a:rPr lang="en-US" sz="4000" b="1" dirty="0" smtClean="0"/>
              <a:t>3. Definitions </a:t>
            </a:r>
            <a:r>
              <a:rPr lang="ar-EG" sz="4000" b="1" dirty="0" smtClean="0"/>
              <a:t>التعريفات</a:t>
            </a:r>
            <a:endParaRPr lang="en-US" sz="4000" b="1" dirty="0"/>
          </a:p>
        </p:txBody>
      </p:sp>
      <p:sp>
        <p:nvSpPr>
          <p:cNvPr id="3" name="Content Placeholder 2"/>
          <p:cNvSpPr>
            <a:spLocks noGrp="1"/>
          </p:cNvSpPr>
          <p:nvPr>
            <p:ph idx="1"/>
          </p:nvPr>
        </p:nvSpPr>
        <p:spPr>
          <a:xfrm>
            <a:off x="457200" y="1295400"/>
            <a:ext cx="8229600" cy="5181600"/>
          </a:xfrm>
        </p:spPr>
        <p:txBody>
          <a:bodyPr/>
          <a:lstStyle/>
          <a:p>
            <a:pPr algn="r" rtl="1"/>
            <a:r>
              <a:rPr lang="ar-EG" dirty="0" smtClean="0"/>
              <a:t>فرص السلامة: التأثيرات التي تؤدي الي تحسين اداء السلامة.</a:t>
            </a:r>
          </a:p>
          <a:p>
            <a:pPr algn="r" rtl="1"/>
            <a:r>
              <a:rPr lang="ar-EG" dirty="0" smtClean="0"/>
              <a:t>الكفاءة: القدرة علي تطبيق المعرفة والمهارات لتحقيق النتائج المطلوبة.</a:t>
            </a:r>
          </a:p>
          <a:p>
            <a:pPr algn="r" rtl="1"/>
            <a:r>
              <a:rPr lang="ar-EG" dirty="0" smtClean="0"/>
              <a:t>المعلومات الموثقة: هي المعلومات المطلوب التحكم فيها وحفظها والوسيط الذي يحتويها.</a:t>
            </a:r>
          </a:p>
          <a:p>
            <a:pPr algn="r" rtl="1"/>
            <a:r>
              <a:rPr lang="ar-EG" dirty="0" smtClean="0"/>
              <a:t>المراجعة: عملية منهجية مستقلة للحصول علي دليل المراجعة وتقييمة لتحديد مدي المطابقة مع معايير المراجعة.</a:t>
            </a:r>
            <a:endParaRPr lang="en-US"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944562"/>
          </a:xfrm>
        </p:spPr>
        <p:txBody>
          <a:bodyPr>
            <a:normAutofit/>
          </a:bodyPr>
          <a:lstStyle/>
          <a:p>
            <a:r>
              <a:rPr lang="en-US" sz="4000" b="1" dirty="0" smtClean="0"/>
              <a:t>3. Definitions </a:t>
            </a:r>
            <a:r>
              <a:rPr lang="ar-EG" sz="4000" b="1" dirty="0" smtClean="0"/>
              <a:t>التعريفات</a:t>
            </a:r>
            <a:endParaRPr lang="en-US" sz="4000" b="1" dirty="0"/>
          </a:p>
        </p:txBody>
      </p:sp>
      <p:sp>
        <p:nvSpPr>
          <p:cNvPr id="3" name="Content Placeholder 2"/>
          <p:cNvSpPr>
            <a:spLocks noGrp="1"/>
          </p:cNvSpPr>
          <p:nvPr>
            <p:ph idx="1"/>
          </p:nvPr>
        </p:nvSpPr>
        <p:spPr>
          <a:xfrm>
            <a:off x="457200" y="1295400"/>
            <a:ext cx="8229600" cy="5181600"/>
          </a:xfrm>
        </p:spPr>
        <p:txBody>
          <a:bodyPr/>
          <a:lstStyle/>
          <a:p>
            <a:pPr algn="r" rtl="1"/>
            <a:r>
              <a:rPr lang="ar-EG" dirty="0" smtClean="0"/>
              <a:t>المطابقة: تحقق المتطلبات</a:t>
            </a:r>
          </a:p>
          <a:p>
            <a:pPr algn="r" rtl="1"/>
            <a:r>
              <a:rPr lang="ar-EG" dirty="0" smtClean="0"/>
              <a:t>عدم المطابقة: عدم تحقق المتطلبات</a:t>
            </a:r>
          </a:p>
          <a:p>
            <a:pPr algn="r" rtl="1"/>
            <a:r>
              <a:rPr lang="ar-EG" dirty="0" smtClean="0"/>
              <a:t>الاجراء التصحيحي: اجراء لازالة سبب عدم المطابقة او الحادث ومنع تكرارة.</a:t>
            </a:r>
          </a:p>
          <a:p>
            <a:pPr algn="r" rtl="1"/>
            <a:r>
              <a:rPr lang="ar-EG" dirty="0" smtClean="0"/>
              <a:t>التحسين المستمر: الانشطة المتكررة لتحسين الاداء.</a:t>
            </a:r>
            <a:endParaRPr lang="en-US"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944562"/>
          </a:xfrm>
        </p:spPr>
        <p:txBody>
          <a:bodyPr>
            <a:normAutofit/>
          </a:bodyPr>
          <a:lstStyle/>
          <a:p>
            <a:r>
              <a:rPr lang="en-US" sz="4000" b="1" dirty="0" smtClean="0"/>
              <a:t>4. Context of the Organization</a:t>
            </a:r>
            <a:endParaRPr lang="en-US" sz="4000" b="1" dirty="0"/>
          </a:p>
        </p:txBody>
      </p:sp>
      <p:sp>
        <p:nvSpPr>
          <p:cNvPr id="3" name="Content Placeholder 2"/>
          <p:cNvSpPr>
            <a:spLocks noGrp="1"/>
          </p:cNvSpPr>
          <p:nvPr>
            <p:ph idx="1"/>
          </p:nvPr>
        </p:nvSpPr>
        <p:spPr>
          <a:xfrm>
            <a:off x="457200" y="1295400"/>
            <a:ext cx="8229600" cy="5181600"/>
          </a:xfrm>
        </p:spPr>
        <p:txBody>
          <a:bodyPr/>
          <a:lstStyle/>
          <a:p>
            <a:pPr algn="l"/>
            <a:r>
              <a:rPr lang="en-US" dirty="0" smtClean="0"/>
              <a:t>4.1. Understanding the organization and its context.</a:t>
            </a:r>
          </a:p>
          <a:p>
            <a:pPr algn="l"/>
            <a:r>
              <a:rPr lang="en-US" dirty="0" smtClean="0"/>
              <a:t>4.2. understanding the needs and expectations of workers and other interested parties.</a:t>
            </a:r>
          </a:p>
          <a:p>
            <a:pPr algn="l"/>
            <a:r>
              <a:rPr lang="en-US" dirty="0" smtClean="0"/>
              <a:t>4.3. determine the scope of OHSMS.</a:t>
            </a:r>
          </a:p>
          <a:p>
            <a:pPr algn="l"/>
            <a:r>
              <a:rPr lang="en-US" dirty="0" smtClean="0"/>
              <a:t>4.4. OHSMS.</a:t>
            </a:r>
            <a:endParaRPr lang="en-US"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944562"/>
          </a:xfrm>
        </p:spPr>
        <p:txBody>
          <a:bodyPr>
            <a:normAutofit fontScale="90000"/>
          </a:bodyPr>
          <a:lstStyle/>
          <a:p>
            <a:r>
              <a:rPr lang="en-US" sz="4000" b="1" dirty="0" smtClean="0"/>
              <a:t>4.1. Understanding the organization and its context.</a:t>
            </a:r>
          </a:p>
        </p:txBody>
      </p:sp>
      <p:sp>
        <p:nvSpPr>
          <p:cNvPr id="3" name="Content Placeholder 2"/>
          <p:cNvSpPr>
            <a:spLocks noGrp="1"/>
          </p:cNvSpPr>
          <p:nvPr>
            <p:ph idx="1"/>
          </p:nvPr>
        </p:nvSpPr>
        <p:spPr>
          <a:xfrm>
            <a:off x="457200" y="1295400"/>
            <a:ext cx="8229600" cy="5181600"/>
          </a:xfrm>
        </p:spPr>
        <p:txBody>
          <a:bodyPr/>
          <a:lstStyle/>
          <a:p>
            <a:pPr algn="r" rtl="1"/>
            <a:r>
              <a:rPr lang="ar-EG" dirty="0" smtClean="0"/>
              <a:t>تحديد المسائل الداخلية والخارجية التي تؤثر علي قدرة المؤسسة علي تحقيق النتائج المطلوبة للسلامة (</a:t>
            </a:r>
            <a:r>
              <a:rPr lang="en-US" dirty="0" smtClean="0"/>
              <a:t>SWOT</a:t>
            </a:r>
            <a:r>
              <a:rPr lang="ar-EG" dirty="0" smtClean="0"/>
              <a:t>).</a:t>
            </a:r>
          </a:p>
          <a:p>
            <a:pPr algn="r" rtl="1"/>
            <a:r>
              <a:rPr lang="ar-EG" dirty="0" smtClean="0"/>
              <a:t>المسائل الداخلية:</a:t>
            </a:r>
          </a:p>
          <a:p>
            <a:pPr algn="r" rtl="1"/>
            <a:r>
              <a:rPr lang="ar-EG" dirty="0" smtClean="0"/>
              <a:t>المعرفة والكفاءة – الانشطة – البنية التحتية – الموارد – الهيكل التنظيمي والمسئوليات – المعايير المطبقة – الاهداف.</a:t>
            </a:r>
          </a:p>
          <a:p>
            <a:pPr algn="r" rtl="1"/>
            <a:r>
              <a:rPr lang="ar-EG" dirty="0" smtClean="0"/>
              <a:t>المسائل الخارجية :</a:t>
            </a:r>
          </a:p>
          <a:p>
            <a:pPr algn="r" rtl="1"/>
            <a:r>
              <a:rPr lang="ar-EG" dirty="0" smtClean="0"/>
              <a:t>مثل: العوامل السياسية – الاقتصادية – الاجتماعية – التكنولوجية – البيئية – القانونية – المنافسين – المقاولين - الموردين.</a:t>
            </a:r>
            <a:endParaRPr lang="en-US"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1706562"/>
          </a:xfrm>
        </p:spPr>
        <p:txBody>
          <a:bodyPr>
            <a:noAutofit/>
          </a:bodyPr>
          <a:lstStyle/>
          <a:p>
            <a:r>
              <a:rPr lang="en-US" sz="4000" b="1" dirty="0" smtClean="0"/>
              <a:t>4.2. understanding the needs and expectations of workers and other interested parties.</a:t>
            </a:r>
          </a:p>
        </p:txBody>
      </p:sp>
      <p:sp>
        <p:nvSpPr>
          <p:cNvPr id="3" name="Content Placeholder 2"/>
          <p:cNvSpPr>
            <a:spLocks noGrp="1"/>
          </p:cNvSpPr>
          <p:nvPr>
            <p:ph idx="1"/>
          </p:nvPr>
        </p:nvSpPr>
        <p:spPr>
          <a:xfrm>
            <a:off x="457200" y="2209800"/>
            <a:ext cx="8229600" cy="4267200"/>
          </a:xfrm>
        </p:spPr>
        <p:txBody>
          <a:bodyPr/>
          <a:lstStyle/>
          <a:p>
            <a:pPr algn="r" rtl="1">
              <a:buNone/>
            </a:pPr>
            <a:r>
              <a:rPr lang="ar-EG" b="1" u="sng" dirty="0" smtClean="0"/>
              <a:t>الاطراف المهتمة:</a:t>
            </a:r>
          </a:p>
          <a:p>
            <a:pPr algn="r" rtl="1"/>
            <a:r>
              <a:rPr lang="ar-EG" dirty="0" smtClean="0"/>
              <a:t>العاملين واتحادات العمال</a:t>
            </a:r>
          </a:p>
          <a:p>
            <a:pPr algn="r" rtl="1"/>
            <a:r>
              <a:rPr lang="ar-EG" dirty="0" smtClean="0"/>
              <a:t>الجيران والعملاء</a:t>
            </a:r>
          </a:p>
          <a:p>
            <a:pPr algn="r" rtl="1"/>
            <a:r>
              <a:rPr lang="ar-EG" dirty="0" smtClean="0"/>
              <a:t>الجهات الحكومية</a:t>
            </a:r>
          </a:p>
          <a:p>
            <a:pPr algn="r" rtl="1"/>
            <a:r>
              <a:rPr lang="ar-EG" dirty="0" smtClean="0"/>
              <a:t>الموردين والمقاولين</a:t>
            </a:r>
          </a:p>
          <a:p>
            <a:pPr algn="r" rtl="1"/>
            <a:r>
              <a:rPr lang="ar-EG" dirty="0" smtClean="0"/>
              <a:t>الزائرين </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944562"/>
          </a:xfrm>
        </p:spPr>
        <p:txBody>
          <a:bodyPr>
            <a:normAutofit/>
          </a:bodyPr>
          <a:lstStyle/>
          <a:p>
            <a:r>
              <a:rPr lang="en-US" sz="4000" b="1" dirty="0" smtClean="0"/>
              <a:t>4.3. determine the scope of OHSMS.</a:t>
            </a:r>
          </a:p>
        </p:txBody>
      </p:sp>
      <p:sp>
        <p:nvSpPr>
          <p:cNvPr id="3" name="Content Placeholder 2"/>
          <p:cNvSpPr>
            <a:spLocks noGrp="1"/>
          </p:cNvSpPr>
          <p:nvPr>
            <p:ph idx="1"/>
          </p:nvPr>
        </p:nvSpPr>
        <p:spPr>
          <a:xfrm>
            <a:off x="457200" y="1295400"/>
            <a:ext cx="8229600" cy="5181600"/>
          </a:xfrm>
        </p:spPr>
        <p:txBody>
          <a:bodyPr/>
          <a:lstStyle/>
          <a:p>
            <a:pPr algn="r" rtl="1"/>
            <a:r>
              <a:rPr lang="ar-EG" dirty="0" smtClean="0"/>
              <a:t>حدود تطبيق النظام</a:t>
            </a:r>
          </a:p>
          <a:p>
            <a:pPr algn="r" rtl="1"/>
            <a:r>
              <a:rPr lang="ar-EG" dirty="0" smtClean="0"/>
              <a:t>لايجب ان يتم استثناء عمليات او انشطة لها تاثير علي المؤسسة</a:t>
            </a:r>
          </a:p>
          <a:p>
            <a:pPr algn="r" rtl="1"/>
            <a:r>
              <a:rPr lang="ar-EG" dirty="0" smtClean="0"/>
              <a:t>لايجب ان يتم التحايل علي متطلبات قانونية بعدم ادراج جزء من انشطة الشركة لمجال نظام السلامة.</a:t>
            </a:r>
          </a:p>
          <a:p>
            <a:pPr algn="r" rtl="1"/>
            <a:r>
              <a:rPr lang="ar-EG" dirty="0" smtClean="0"/>
              <a:t>الاخذ في الاعتبار </a:t>
            </a:r>
          </a:p>
          <a:p>
            <a:pPr algn="r" rtl="1"/>
            <a:r>
              <a:rPr lang="ar-EG" dirty="0" smtClean="0"/>
              <a:t>المسائل الداخلية والخاريجة </a:t>
            </a:r>
          </a:p>
          <a:p>
            <a:pPr algn="r" rtl="1"/>
            <a:r>
              <a:rPr lang="ar-EG" dirty="0" smtClean="0"/>
              <a:t>احتاجات وتوقعات العاملين والاطراف المهتمة</a:t>
            </a:r>
          </a:p>
          <a:p>
            <a:pPr algn="r" rtl="1"/>
            <a:r>
              <a:rPr lang="ar-EG" dirty="0" smtClean="0"/>
              <a:t>الانشطة المخططة والمنفذة</a:t>
            </a:r>
            <a:endParaRPr lang="en-US"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944562"/>
          </a:xfrm>
        </p:spPr>
        <p:txBody>
          <a:bodyPr>
            <a:normAutofit/>
          </a:bodyPr>
          <a:lstStyle/>
          <a:p>
            <a:r>
              <a:rPr lang="en-US" sz="4000" b="1" dirty="0" smtClean="0"/>
              <a:t>4.4. OHSMS.</a:t>
            </a:r>
            <a:endParaRPr lang="en-US" sz="4000" b="1" dirty="0"/>
          </a:p>
        </p:txBody>
      </p:sp>
      <p:sp>
        <p:nvSpPr>
          <p:cNvPr id="3" name="Content Placeholder 2"/>
          <p:cNvSpPr>
            <a:spLocks noGrp="1"/>
          </p:cNvSpPr>
          <p:nvPr>
            <p:ph idx="1"/>
          </p:nvPr>
        </p:nvSpPr>
        <p:spPr>
          <a:xfrm>
            <a:off x="457200" y="1295400"/>
            <a:ext cx="8229600" cy="5181600"/>
          </a:xfrm>
        </p:spPr>
        <p:txBody>
          <a:bodyPr/>
          <a:lstStyle/>
          <a:p>
            <a:pPr algn="r" rtl="1"/>
            <a:r>
              <a:rPr lang="ar-EG" dirty="0" smtClean="0"/>
              <a:t>انشاء وتطبيق والمحافظة علي والتحسين المستمر لنظام السلامة والعمليات اللازمة والتفاعل بين تلك العمليات طبقا لمتطلبات المواصفة.</a:t>
            </a:r>
          </a:p>
          <a:p>
            <a:pPr algn="r" rtl="1"/>
            <a:endParaRPr lang="en-US"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944562"/>
          </a:xfrm>
        </p:spPr>
        <p:txBody>
          <a:bodyPr>
            <a:normAutofit/>
          </a:bodyPr>
          <a:lstStyle/>
          <a:p>
            <a:r>
              <a:rPr lang="en-US" sz="4000" b="1" dirty="0" smtClean="0"/>
              <a:t>5 Leadership and worker participation</a:t>
            </a:r>
            <a:endParaRPr lang="en-US" sz="4000" b="1" dirty="0"/>
          </a:p>
        </p:txBody>
      </p:sp>
      <p:sp>
        <p:nvSpPr>
          <p:cNvPr id="3" name="Content Placeholder 2"/>
          <p:cNvSpPr>
            <a:spLocks noGrp="1"/>
          </p:cNvSpPr>
          <p:nvPr>
            <p:ph idx="1"/>
          </p:nvPr>
        </p:nvSpPr>
        <p:spPr>
          <a:xfrm>
            <a:off x="457200" y="1295400"/>
            <a:ext cx="8229600" cy="5181600"/>
          </a:xfrm>
        </p:spPr>
        <p:txBody>
          <a:bodyPr/>
          <a:lstStyle/>
          <a:p>
            <a:pPr marL="514350" indent="-514350">
              <a:buNone/>
            </a:pPr>
            <a:r>
              <a:rPr lang="en-US" b="1" dirty="0" smtClean="0"/>
              <a:t>5.1. Leadership and Commitment</a:t>
            </a:r>
          </a:p>
          <a:p>
            <a:pPr marL="514350" indent="-514350">
              <a:buNone/>
            </a:pPr>
            <a:r>
              <a:rPr lang="en-US" b="1" dirty="0" smtClean="0"/>
              <a:t>5.2. OHS Policy</a:t>
            </a:r>
          </a:p>
          <a:p>
            <a:pPr marL="514350" indent="-514350">
              <a:buNone/>
            </a:pPr>
            <a:r>
              <a:rPr lang="en-US" b="1" dirty="0" smtClean="0"/>
              <a:t>5.3. Organizational Roles, Responsibilities and Authorities</a:t>
            </a:r>
          </a:p>
          <a:p>
            <a:pPr marL="514350" indent="-514350">
              <a:buNone/>
            </a:pPr>
            <a:r>
              <a:rPr lang="en-US" b="1" dirty="0" smtClean="0"/>
              <a:t>5.4. Consultation and Participation of Workers</a:t>
            </a:r>
          </a:p>
          <a:p>
            <a:pPr marL="514350" indent="-514350">
              <a:buFont typeface="+mj-lt"/>
              <a:buAutoNum type="arabicPeriod"/>
            </a:pPr>
            <a:endParaRPr lang="ar-EG" b="1" dirty="0" smtClean="0"/>
          </a:p>
          <a:p>
            <a:pPr algn="l"/>
            <a:endParaRPr lang="en-US"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944562"/>
          </a:xfrm>
        </p:spPr>
        <p:txBody>
          <a:bodyPr>
            <a:normAutofit/>
          </a:bodyPr>
          <a:lstStyle/>
          <a:p>
            <a:r>
              <a:rPr lang="en-US" sz="4000" b="1" dirty="0" smtClean="0"/>
              <a:t>5.1 Leadership and commitment</a:t>
            </a:r>
            <a:endParaRPr lang="ar-EG" sz="4000" b="1" dirty="0" smtClean="0"/>
          </a:p>
        </p:txBody>
      </p:sp>
      <p:sp>
        <p:nvSpPr>
          <p:cNvPr id="3" name="Content Placeholder 2"/>
          <p:cNvSpPr>
            <a:spLocks noGrp="1"/>
          </p:cNvSpPr>
          <p:nvPr>
            <p:ph idx="1"/>
          </p:nvPr>
        </p:nvSpPr>
        <p:spPr>
          <a:xfrm>
            <a:off x="457200" y="1295400"/>
            <a:ext cx="8229600" cy="5181600"/>
          </a:xfrm>
        </p:spPr>
        <p:txBody>
          <a:bodyPr>
            <a:normAutofit/>
          </a:bodyPr>
          <a:lstStyle/>
          <a:p>
            <a:pPr algn="r" rtl="1"/>
            <a:r>
              <a:rPr lang="ar-EG" dirty="0" smtClean="0"/>
              <a:t>الادارة العليا تثبت القيادة والالتزام ب:</a:t>
            </a:r>
          </a:p>
          <a:p>
            <a:pPr algn="r" rtl="1"/>
            <a:r>
              <a:rPr lang="ar-EG" dirty="0" smtClean="0"/>
              <a:t>تحمل المسئولية عن منع الاصابات والامراض وكذلك توفير بيئة عمل امنة.</a:t>
            </a:r>
          </a:p>
          <a:p>
            <a:pPr algn="r" rtl="1"/>
            <a:r>
              <a:rPr lang="ar-EG" dirty="0" smtClean="0"/>
              <a:t>التاكد من انشاء سياسة واهداف للسلامة متفقة مع التوجة الاستراتيجي للمؤسسة.</a:t>
            </a:r>
          </a:p>
          <a:p>
            <a:pPr algn="r" rtl="1"/>
            <a:r>
              <a:rPr lang="ar-EG" dirty="0" smtClean="0"/>
              <a:t>التاكد من ادماج نظام ادارة السلامة مع عمليات الشركة.</a:t>
            </a:r>
          </a:p>
          <a:p>
            <a:pPr algn="r" rtl="1"/>
            <a:r>
              <a:rPr lang="ar-EG" dirty="0" smtClean="0"/>
              <a:t>التاكد من توافر الموارد اللازمة لنظام السلامة.</a:t>
            </a:r>
          </a:p>
          <a:p>
            <a:pPr algn="r" rtl="1"/>
            <a:r>
              <a:rPr lang="ar-EG" dirty="0" smtClean="0"/>
              <a:t>توصيل اهمية التوافق مع نظام السلامة.</a:t>
            </a: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944562"/>
          </a:xfrm>
        </p:spPr>
        <p:txBody>
          <a:bodyPr>
            <a:normAutofit/>
          </a:bodyPr>
          <a:lstStyle/>
          <a:p>
            <a:r>
              <a:rPr lang="en-US" sz="4000" b="1" dirty="0" smtClean="0"/>
              <a:t>5.1 Leadership and commitment</a:t>
            </a:r>
            <a:endParaRPr lang="en-US" sz="4000" b="1" dirty="0"/>
          </a:p>
        </p:txBody>
      </p:sp>
      <p:sp>
        <p:nvSpPr>
          <p:cNvPr id="3" name="Content Placeholder 2"/>
          <p:cNvSpPr>
            <a:spLocks noGrp="1"/>
          </p:cNvSpPr>
          <p:nvPr>
            <p:ph idx="1"/>
          </p:nvPr>
        </p:nvSpPr>
        <p:spPr>
          <a:xfrm>
            <a:off x="457200" y="1295400"/>
            <a:ext cx="8229600" cy="5181600"/>
          </a:xfrm>
        </p:spPr>
        <p:txBody>
          <a:bodyPr/>
          <a:lstStyle/>
          <a:p>
            <a:pPr algn="r" rtl="1"/>
            <a:r>
              <a:rPr lang="ar-EG" dirty="0" smtClean="0"/>
              <a:t>التاكد من تحقيق نظام السلامة للاهداف المخططة.</a:t>
            </a:r>
          </a:p>
          <a:p>
            <a:pPr algn="r" rtl="1"/>
            <a:r>
              <a:rPr lang="ar-EG" dirty="0" smtClean="0"/>
              <a:t>توجية ودعم الافراد للمشاركة في فاعلية نظام السلامة.</a:t>
            </a:r>
          </a:p>
          <a:p>
            <a:pPr algn="r" rtl="1"/>
            <a:r>
              <a:rPr lang="ar-EG" dirty="0" smtClean="0"/>
              <a:t>تحفيز التحسين المستمر لنظام السلامة</a:t>
            </a:r>
          </a:p>
          <a:p>
            <a:pPr algn="r" rtl="1"/>
            <a:r>
              <a:rPr lang="ar-EG" dirty="0" smtClean="0"/>
              <a:t>دعم القيادات لتنفيذ دورهم في مناطق مسئولياتهم.</a:t>
            </a:r>
          </a:p>
          <a:p>
            <a:pPr algn="r" rtl="1"/>
            <a:r>
              <a:rPr lang="ar-EG" dirty="0" smtClean="0"/>
              <a:t>حماية العاملين من المسائلة في حالة ابلاغهم عن المخاطر والحوادث</a:t>
            </a:r>
          </a:p>
          <a:p>
            <a:pPr algn="r" rtl="1"/>
            <a:r>
              <a:rPr lang="ar-EG" dirty="0" smtClean="0"/>
              <a:t>تحسين ثقافة السلامة</a:t>
            </a:r>
          </a:p>
          <a:p>
            <a:pPr algn="r" rtl="1"/>
            <a:r>
              <a:rPr lang="ar-EG" dirty="0" smtClean="0"/>
              <a:t>التاكد من وجود عمليات لاستشارة ومشاركة العاملين ودعم دور لجان السلامة.</a:t>
            </a:r>
            <a:endParaRPr lang="en-US" dirty="0" smtClean="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944562"/>
          </a:xfrm>
        </p:spPr>
        <p:txBody>
          <a:bodyPr>
            <a:normAutofit/>
          </a:bodyPr>
          <a:lstStyle/>
          <a:p>
            <a:r>
              <a:rPr lang="en-US" sz="4000" b="1" dirty="0" smtClean="0"/>
              <a:t>5.2 OH&amp;S policy</a:t>
            </a:r>
            <a:endParaRPr lang="en-US" sz="4000" b="1" dirty="0"/>
          </a:p>
        </p:txBody>
      </p:sp>
      <p:sp>
        <p:nvSpPr>
          <p:cNvPr id="3" name="Content Placeholder 2"/>
          <p:cNvSpPr>
            <a:spLocks noGrp="1"/>
          </p:cNvSpPr>
          <p:nvPr>
            <p:ph idx="1"/>
          </p:nvPr>
        </p:nvSpPr>
        <p:spPr>
          <a:xfrm>
            <a:off x="457200" y="1295400"/>
            <a:ext cx="8229600" cy="5181600"/>
          </a:xfrm>
        </p:spPr>
        <p:txBody>
          <a:bodyPr/>
          <a:lstStyle/>
          <a:p>
            <a:pPr algn="r" rtl="1"/>
            <a:r>
              <a:rPr lang="ar-EG" dirty="0" smtClean="0"/>
              <a:t>تشمل الالتزام بتوفير ظروف عمل امنة لمنع الحوادث والاصابات والامراض.</a:t>
            </a:r>
          </a:p>
          <a:p>
            <a:pPr algn="r" rtl="1"/>
            <a:r>
              <a:rPr lang="ar-EG" dirty="0" smtClean="0"/>
              <a:t>تحدد اطار وضع الاهداف</a:t>
            </a:r>
          </a:p>
          <a:p>
            <a:pPr algn="r" rtl="1"/>
            <a:r>
              <a:rPr lang="ar-EG" dirty="0" smtClean="0"/>
              <a:t>الالتزام بالتوافق مع المتطلبات القانونية والالزامية.</a:t>
            </a:r>
          </a:p>
          <a:p>
            <a:pPr algn="r" rtl="1"/>
            <a:r>
              <a:rPr lang="ar-EG" dirty="0" smtClean="0"/>
              <a:t>الالتزام بازالة الاخطار وتقليل المخاطر.</a:t>
            </a:r>
          </a:p>
          <a:p>
            <a:pPr algn="r" rtl="1"/>
            <a:r>
              <a:rPr lang="ar-EG" dirty="0" smtClean="0"/>
              <a:t>الالتزام بالتحسين المستمر لنظام السلامة</a:t>
            </a:r>
          </a:p>
          <a:p>
            <a:pPr algn="r" rtl="1"/>
            <a:r>
              <a:rPr lang="ar-EG" dirty="0" smtClean="0"/>
              <a:t>الالتزام باستشارة العاملين ومشاركتهم.</a:t>
            </a:r>
          </a:p>
          <a:p>
            <a:pPr algn="r" rtl="1"/>
            <a:r>
              <a:rPr lang="ar-EG" dirty="0" smtClean="0"/>
              <a:t>موثقة ومتاحة ويتم توصيلها داخل المؤسسة ومتاحة للاطراف المهتمة ومناسبة</a:t>
            </a:r>
            <a:endParaRPr lang="en-US"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944562"/>
          </a:xfrm>
        </p:spPr>
        <p:txBody>
          <a:bodyPr>
            <a:normAutofit fontScale="90000"/>
          </a:bodyPr>
          <a:lstStyle/>
          <a:p>
            <a:r>
              <a:rPr lang="en-US" sz="4000" b="1" dirty="0" smtClean="0"/>
              <a:t>5.3 Organizational roles, responsibilities and authorities</a:t>
            </a:r>
            <a:endParaRPr lang="en-US" sz="4000" b="1" dirty="0"/>
          </a:p>
        </p:txBody>
      </p:sp>
      <p:sp>
        <p:nvSpPr>
          <p:cNvPr id="3" name="Content Placeholder 2"/>
          <p:cNvSpPr>
            <a:spLocks noGrp="1"/>
          </p:cNvSpPr>
          <p:nvPr>
            <p:ph idx="1"/>
          </p:nvPr>
        </p:nvSpPr>
        <p:spPr>
          <a:xfrm>
            <a:off x="457200" y="1295400"/>
            <a:ext cx="8229600" cy="5181600"/>
          </a:xfrm>
        </p:spPr>
        <p:txBody>
          <a:bodyPr/>
          <a:lstStyle/>
          <a:p>
            <a:pPr algn="r" rtl="1"/>
            <a:r>
              <a:rPr lang="ar-EG" dirty="0" smtClean="0"/>
              <a:t>تتاكد الادارة العليا من تحديد المسئوليات والصلاحيات لجميع الوظائف وتوصيلها علي كل المستويات.</a:t>
            </a:r>
          </a:p>
          <a:p>
            <a:pPr algn="r" rtl="1"/>
            <a:r>
              <a:rPr lang="ar-EG" dirty="0" smtClean="0"/>
              <a:t>العاملين علي كل المستويات مسئولون عن الاعمال التي تقع تحت سيطرتهم.</a:t>
            </a:r>
          </a:p>
          <a:p>
            <a:pPr algn="r" rtl="1"/>
            <a:r>
              <a:rPr lang="ar-EG" dirty="0" smtClean="0"/>
              <a:t>المسئوليات تفوض ولكن المسائلة لاتزال علي عاتق الادارة العليا.</a:t>
            </a:r>
          </a:p>
          <a:p>
            <a:pPr algn="r" rtl="1"/>
            <a:r>
              <a:rPr lang="ar-EG" dirty="0" smtClean="0"/>
              <a:t>الادارة العليا تفوض المسئوليات في التاكد من توافق نظام السلامة مع متطلبات المواصفة و ابلاغ الادارة العليا باداء السلامة.</a:t>
            </a:r>
            <a:endParaRPr lang="en-US"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944562"/>
          </a:xfrm>
        </p:spPr>
        <p:txBody>
          <a:bodyPr>
            <a:normAutofit fontScale="90000"/>
          </a:bodyPr>
          <a:lstStyle/>
          <a:p>
            <a:r>
              <a:rPr lang="en-US" sz="4000" b="1" dirty="0" smtClean="0"/>
              <a:t>5.4 Consultation and participation of workers</a:t>
            </a:r>
            <a:endParaRPr lang="en-US" sz="4000" b="1" dirty="0"/>
          </a:p>
        </p:txBody>
      </p:sp>
      <p:sp>
        <p:nvSpPr>
          <p:cNvPr id="3" name="Content Placeholder 2"/>
          <p:cNvSpPr>
            <a:spLocks noGrp="1"/>
          </p:cNvSpPr>
          <p:nvPr>
            <p:ph idx="1"/>
          </p:nvPr>
        </p:nvSpPr>
        <p:spPr>
          <a:xfrm>
            <a:off x="457200" y="1295400"/>
            <a:ext cx="8229600" cy="5181600"/>
          </a:xfrm>
        </p:spPr>
        <p:txBody>
          <a:bodyPr/>
          <a:lstStyle/>
          <a:p>
            <a:pPr algn="r" rtl="1"/>
            <a:r>
              <a:rPr lang="ar-EG" dirty="0" smtClean="0"/>
              <a:t>انشاء عمليات لاستشارة ومشاركة العاملين في وضع وتطوير وتنفيذ وتقييم وتحسين نظام ادارة السلامة.</a:t>
            </a:r>
          </a:p>
          <a:p>
            <a:pPr algn="r" rtl="1"/>
            <a:r>
              <a:rPr lang="ar-EG" dirty="0" smtClean="0"/>
              <a:t>توفير الالية والوقت والتدريب والموارد اللازمة لاستشارة العاملين ومشاركتهم.</a:t>
            </a:r>
          </a:p>
          <a:p>
            <a:pPr algn="r" rtl="1"/>
            <a:r>
              <a:rPr lang="ar-EG" dirty="0" smtClean="0"/>
              <a:t>تحديد وازالة العوائق التي تمنع مشاركة العاملين مثل عدم الاستجابة لمقترحاتهم وحواجز اللغة والتهديد بالعقوبة.</a:t>
            </a:r>
          </a:p>
          <a:p>
            <a:pPr algn="r" rtl="1"/>
            <a:r>
              <a:rPr lang="ar-EG" dirty="0" smtClean="0"/>
              <a:t>توفير حصول العاملين علي معلومات واضحة ومفهومة عن نظام ادارة السلامة.</a:t>
            </a:r>
            <a:endParaRPr lang="en-US"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944562"/>
          </a:xfrm>
        </p:spPr>
        <p:txBody>
          <a:bodyPr>
            <a:normAutofit/>
          </a:bodyPr>
          <a:lstStyle/>
          <a:p>
            <a:r>
              <a:rPr lang="ar-EG" sz="4000" b="1" dirty="0" smtClean="0"/>
              <a:t>استشارة العاملين في الاتي</a:t>
            </a:r>
            <a:endParaRPr lang="en-US" sz="4000" b="1" dirty="0"/>
          </a:p>
        </p:txBody>
      </p:sp>
      <p:sp>
        <p:nvSpPr>
          <p:cNvPr id="3" name="Content Placeholder 2"/>
          <p:cNvSpPr>
            <a:spLocks noGrp="1"/>
          </p:cNvSpPr>
          <p:nvPr>
            <p:ph idx="1"/>
          </p:nvPr>
        </p:nvSpPr>
        <p:spPr>
          <a:xfrm>
            <a:off x="457200" y="1295400"/>
            <a:ext cx="8229600" cy="5181600"/>
          </a:xfrm>
        </p:spPr>
        <p:txBody>
          <a:bodyPr/>
          <a:lstStyle/>
          <a:p>
            <a:pPr algn="r" rtl="1"/>
            <a:r>
              <a:rPr lang="ar-EG" dirty="0" smtClean="0"/>
              <a:t>تحديد احتياجات وتوقعات الاطرافة المهتمة</a:t>
            </a:r>
          </a:p>
          <a:p>
            <a:pPr algn="r" rtl="1"/>
            <a:r>
              <a:rPr lang="ar-EG" dirty="0" smtClean="0"/>
              <a:t>انشاء سياسة السلامة</a:t>
            </a:r>
          </a:p>
          <a:p>
            <a:pPr algn="r" rtl="1"/>
            <a:r>
              <a:rPr lang="ar-EG" dirty="0" smtClean="0"/>
              <a:t>تحديد المسئوليات والصلاحيات والادوار</a:t>
            </a:r>
          </a:p>
          <a:p>
            <a:pPr algn="r" rtl="1"/>
            <a:r>
              <a:rPr lang="ar-EG" dirty="0" smtClean="0"/>
              <a:t>تحديد كيفية التوافق مع المتطلبات القانونية</a:t>
            </a:r>
          </a:p>
          <a:p>
            <a:pPr algn="r" rtl="1"/>
            <a:r>
              <a:rPr lang="ar-EG" dirty="0" smtClean="0"/>
              <a:t>انشاء الاهداف والتخطيط لتحقيقها</a:t>
            </a:r>
          </a:p>
          <a:p>
            <a:pPr algn="r" rtl="1"/>
            <a:r>
              <a:rPr lang="ar-EG" dirty="0" smtClean="0"/>
              <a:t>تحديد اجراءات التحكم في </a:t>
            </a:r>
            <a:r>
              <a:rPr lang="en-US" dirty="0" smtClean="0"/>
              <a:t>outsourcing, procurement , contractors</a:t>
            </a:r>
          </a:p>
          <a:p>
            <a:pPr algn="r" rtl="1"/>
            <a:r>
              <a:rPr lang="ar-EG" dirty="0" smtClean="0"/>
              <a:t>تحديد المطلوب مراقبتة وقياسة</a:t>
            </a:r>
          </a:p>
          <a:p>
            <a:pPr algn="r" rtl="1"/>
            <a:r>
              <a:rPr lang="ar-EG" dirty="0" smtClean="0"/>
              <a:t>انشاء برنامج المراجعة والتاكد من التحسين المستمر</a:t>
            </a:r>
            <a:endParaRPr lang="en-US"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944562"/>
          </a:xfrm>
        </p:spPr>
        <p:txBody>
          <a:bodyPr>
            <a:normAutofit/>
          </a:bodyPr>
          <a:lstStyle/>
          <a:p>
            <a:r>
              <a:rPr lang="ar-EG" sz="4000" b="1" dirty="0" smtClean="0"/>
              <a:t>مشاركة العاملين في الاتي</a:t>
            </a:r>
            <a:endParaRPr lang="en-US" sz="4000" b="1" dirty="0"/>
          </a:p>
        </p:txBody>
      </p:sp>
      <p:sp>
        <p:nvSpPr>
          <p:cNvPr id="3" name="Content Placeholder 2"/>
          <p:cNvSpPr>
            <a:spLocks noGrp="1"/>
          </p:cNvSpPr>
          <p:nvPr>
            <p:ph idx="1"/>
          </p:nvPr>
        </p:nvSpPr>
        <p:spPr>
          <a:xfrm>
            <a:off x="457200" y="1295400"/>
            <a:ext cx="8229600" cy="5181600"/>
          </a:xfrm>
        </p:spPr>
        <p:txBody>
          <a:bodyPr/>
          <a:lstStyle/>
          <a:p>
            <a:pPr algn="r" rtl="1"/>
            <a:r>
              <a:rPr lang="ar-EG" dirty="0" smtClean="0"/>
              <a:t>تحديد اليه مشاركتهم واستشارتهم</a:t>
            </a:r>
          </a:p>
          <a:p>
            <a:pPr algn="r" rtl="1"/>
            <a:r>
              <a:rPr lang="ar-EG" dirty="0" smtClean="0"/>
              <a:t>تحديد الاخطار وتقييم المخاطر والفرص</a:t>
            </a:r>
          </a:p>
          <a:p>
            <a:pPr algn="r" rtl="1"/>
            <a:r>
              <a:rPr lang="ar-EG" dirty="0" smtClean="0"/>
              <a:t>تحديد الاجراءات المطلوبة لازالة المخاطر وتقليلها</a:t>
            </a:r>
          </a:p>
          <a:p>
            <a:pPr algn="r" rtl="1"/>
            <a:r>
              <a:rPr lang="ar-EG" dirty="0" smtClean="0"/>
              <a:t>تحديد متطلبات الكفاءة والاحتياجات التدريبية وتقييم التدريب</a:t>
            </a:r>
          </a:p>
          <a:p>
            <a:pPr algn="r" rtl="1"/>
            <a:r>
              <a:rPr lang="ar-EG" dirty="0" smtClean="0"/>
              <a:t>تحديد المعلومات المطلوب توصيلها وكيف يتم ذلك</a:t>
            </a:r>
          </a:p>
          <a:p>
            <a:pPr algn="r" rtl="1"/>
            <a:r>
              <a:rPr lang="ar-EG" dirty="0" smtClean="0"/>
              <a:t>تحديد اجراءات التحكم وتطبيقها بفاعلية</a:t>
            </a:r>
          </a:p>
          <a:p>
            <a:pPr algn="r" rtl="1"/>
            <a:r>
              <a:rPr lang="ar-EG" dirty="0" smtClean="0"/>
              <a:t>التحقيق في الحوادث وعدم المطابقة وتحديد الاجراءات التصحيحية.</a:t>
            </a:r>
            <a:endParaRPr lang="en-US"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944562"/>
          </a:xfrm>
        </p:spPr>
        <p:txBody>
          <a:bodyPr>
            <a:normAutofit/>
          </a:bodyPr>
          <a:lstStyle/>
          <a:p>
            <a:r>
              <a:rPr lang="en-US" sz="4000" b="1" dirty="0" smtClean="0"/>
              <a:t>6 Planning</a:t>
            </a:r>
            <a:endParaRPr lang="en-US" sz="4000" b="1" dirty="0"/>
          </a:p>
        </p:txBody>
      </p:sp>
      <p:sp>
        <p:nvSpPr>
          <p:cNvPr id="3" name="Content Placeholder 2"/>
          <p:cNvSpPr>
            <a:spLocks noGrp="1"/>
          </p:cNvSpPr>
          <p:nvPr>
            <p:ph idx="1"/>
          </p:nvPr>
        </p:nvSpPr>
        <p:spPr>
          <a:xfrm>
            <a:off x="457200" y="1295400"/>
            <a:ext cx="8229600" cy="5181600"/>
          </a:xfrm>
        </p:spPr>
        <p:txBody>
          <a:bodyPr>
            <a:normAutofit lnSpcReduction="10000"/>
          </a:bodyPr>
          <a:lstStyle/>
          <a:p>
            <a:r>
              <a:rPr lang="en-US" b="1" dirty="0" smtClean="0"/>
              <a:t>6.1 Actions to Address Risks and Opportunities:</a:t>
            </a:r>
          </a:p>
          <a:p>
            <a:r>
              <a:rPr lang="en-US" dirty="0" smtClean="0"/>
              <a:t>6.1.1. General</a:t>
            </a:r>
          </a:p>
          <a:p>
            <a:r>
              <a:rPr lang="en-US" dirty="0" smtClean="0"/>
              <a:t>6.1.2. Hazard Identification and Assessment of Risks and Opportunities</a:t>
            </a:r>
          </a:p>
          <a:p>
            <a:r>
              <a:rPr lang="en-US" dirty="0" smtClean="0"/>
              <a:t>6.1.3 Determination of Legal and Other Requirements</a:t>
            </a:r>
          </a:p>
          <a:p>
            <a:r>
              <a:rPr lang="en-US" dirty="0" smtClean="0"/>
              <a:t>6.1.. Planning Actions</a:t>
            </a:r>
          </a:p>
          <a:p>
            <a:r>
              <a:rPr lang="en-US" b="1" dirty="0" smtClean="0"/>
              <a:t>6.2 OHS Objectives and Planning to Achieve them</a:t>
            </a:r>
            <a:endParaRPr lang="ar-EG" b="1" dirty="0" smtClean="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1554162"/>
          </a:xfrm>
        </p:spPr>
        <p:txBody>
          <a:bodyPr>
            <a:normAutofit fontScale="90000"/>
          </a:bodyPr>
          <a:lstStyle/>
          <a:p>
            <a:r>
              <a:rPr lang="en-US" sz="4000" b="1" dirty="0" smtClean="0"/>
              <a:t>6.1 Actions to Address Risks and Opportunities:</a:t>
            </a:r>
            <a:br>
              <a:rPr lang="en-US" sz="4000" b="1" dirty="0" smtClean="0"/>
            </a:br>
            <a:r>
              <a:rPr lang="en-US" sz="4000" b="1" u="sng" dirty="0" smtClean="0"/>
              <a:t>6.1.1. General</a:t>
            </a:r>
          </a:p>
        </p:txBody>
      </p:sp>
      <p:sp>
        <p:nvSpPr>
          <p:cNvPr id="3" name="Content Placeholder 2"/>
          <p:cNvSpPr>
            <a:spLocks noGrp="1"/>
          </p:cNvSpPr>
          <p:nvPr>
            <p:ph idx="1"/>
          </p:nvPr>
        </p:nvSpPr>
        <p:spPr>
          <a:xfrm>
            <a:off x="457200" y="1981200"/>
            <a:ext cx="8229600" cy="4495800"/>
          </a:xfrm>
        </p:spPr>
        <p:txBody>
          <a:bodyPr/>
          <a:lstStyle/>
          <a:p>
            <a:pPr algn="r" rtl="1"/>
            <a:r>
              <a:rPr lang="ar-EG" dirty="0" smtClean="0"/>
              <a:t>الاخذ في الاعتبار:</a:t>
            </a:r>
          </a:p>
          <a:p>
            <a:pPr algn="r" rtl="1"/>
            <a:r>
              <a:rPr lang="ar-EG" dirty="0" smtClean="0"/>
              <a:t>الاخطار والمخاطر والفرص والمتطلبات القانونية.</a:t>
            </a:r>
          </a:p>
          <a:p>
            <a:pPr algn="r" rtl="1"/>
            <a:r>
              <a:rPr lang="ar-EG" dirty="0" smtClean="0"/>
              <a:t>تحديد وتقييم المخاطر والفرص المرتبطة بالتغييرات في المؤسسة وعملياتها ونظام ادارة السلامة.</a:t>
            </a:r>
          </a:p>
          <a:p>
            <a:pPr algn="r" rtl="1"/>
            <a:r>
              <a:rPr lang="ar-EG" dirty="0" smtClean="0"/>
              <a:t>توثيق المخاطر والفرص والاجراءات المطلوبة لتحديدها.</a:t>
            </a:r>
            <a:endParaRPr lang="en-US"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895600"/>
            <a:ext cx="8229600" cy="1173162"/>
          </a:xfrm>
        </p:spPr>
        <p:txBody>
          <a:bodyPr>
            <a:normAutofit fontScale="90000"/>
          </a:bodyPr>
          <a:lstStyle/>
          <a:p>
            <a:r>
              <a:rPr lang="en-US" sz="4000" b="1" dirty="0" smtClean="0"/>
              <a:t>6.1.2. Hazard Identification and Assessment of Risks and Opportunities</a:t>
            </a:r>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944562"/>
          </a:xfrm>
        </p:spPr>
        <p:txBody>
          <a:bodyPr>
            <a:normAutofit/>
          </a:bodyPr>
          <a:lstStyle/>
          <a:p>
            <a:r>
              <a:rPr lang="en-US" sz="4000" b="1" dirty="0" smtClean="0"/>
              <a:t>6.1.2.1 Hazard identification</a:t>
            </a:r>
            <a:endParaRPr lang="en-US" sz="4000" b="1" dirty="0"/>
          </a:p>
        </p:txBody>
      </p:sp>
      <p:sp>
        <p:nvSpPr>
          <p:cNvPr id="3" name="Content Placeholder 2"/>
          <p:cNvSpPr>
            <a:spLocks noGrp="1"/>
          </p:cNvSpPr>
          <p:nvPr>
            <p:ph idx="1"/>
          </p:nvPr>
        </p:nvSpPr>
        <p:spPr>
          <a:xfrm>
            <a:off x="457200" y="1295400"/>
            <a:ext cx="8229600" cy="5181600"/>
          </a:xfrm>
        </p:spPr>
        <p:txBody>
          <a:bodyPr>
            <a:normAutofit fontScale="92500" lnSpcReduction="10000"/>
          </a:bodyPr>
          <a:lstStyle/>
          <a:p>
            <a:pPr algn="r" rtl="1"/>
            <a:r>
              <a:rPr lang="ar-EG" dirty="0" smtClean="0"/>
              <a:t>انشاء عمليات مستمرة واستباقية لتحديد الاخطار والاخذ في الاعتبار:</a:t>
            </a:r>
          </a:p>
          <a:p>
            <a:pPr algn="r" rtl="1"/>
            <a:r>
              <a:rPr lang="ar-EG" dirty="0" smtClean="0"/>
              <a:t>كيفية تنفيذ العمل - ساعات العمل – القيادة – الثقافة - الانشطة الرتينية وغير الروتينية</a:t>
            </a:r>
          </a:p>
          <a:p>
            <a:pPr algn="r" rtl="1"/>
            <a:r>
              <a:rPr lang="ar-EG" dirty="0" smtClean="0"/>
              <a:t>الاخطار المتعلقة بالبنية التحتية والمعدات والمواد والظروف الفيزيائية لموقع العمل.</a:t>
            </a:r>
          </a:p>
          <a:p>
            <a:pPr algn="r" rtl="1"/>
            <a:r>
              <a:rPr lang="ar-EG" dirty="0" smtClean="0"/>
              <a:t>تصميم المنتجات والخدمات – الاختبار – الانتاج – التجميع – الانشاءات – الصيانة والتخلص من المواد</a:t>
            </a:r>
          </a:p>
          <a:p>
            <a:pPr algn="r" rtl="1"/>
            <a:r>
              <a:rPr lang="ar-EG" dirty="0" smtClean="0"/>
              <a:t>تاريخ الحوادث – حالات الطوارئ واسبابها</a:t>
            </a:r>
          </a:p>
          <a:p>
            <a:pPr algn="r" rtl="1"/>
            <a:r>
              <a:rPr lang="ar-EG" dirty="0" smtClean="0"/>
              <a:t>العاملين والمقاولين والزائرين</a:t>
            </a:r>
          </a:p>
          <a:p>
            <a:pPr algn="r" rtl="1"/>
            <a:r>
              <a:rPr lang="ar-EG" dirty="0" smtClean="0"/>
              <a:t>تصميم مكان العمل – اجراءت العمل</a:t>
            </a:r>
            <a:endParaRPr lang="en-US"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1477962"/>
          </a:xfrm>
        </p:spPr>
        <p:txBody>
          <a:bodyPr>
            <a:normAutofit fontScale="90000"/>
          </a:bodyPr>
          <a:lstStyle/>
          <a:p>
            <a:r>
              <a:rPr lang="en-US" sz="4000" b="1" dirty="0" smtClean="0"/>
              <a:t>6.1.2.2 Assessment of OH&amp;S risks and other risks to the OH&amp;S management system</a:t>
            </a:r>
            <a:endParaRPr lang="en-US" sz="4000" b="1" dirty="0"/>
          </a:p>
        </p:txBody>
      </p:sp>
      <p:sp>
        <p:nvSpPr>
          <p:cNvPr id="3" name="Content Placeholder 2"/>
          <p:cNvSpPr>
            <a:spLocks noGrp="1"/>
          </p:cNvSpPr>
          <p:nvPr>
            <p:ph idx="1"/>
          </p:nvPr>
        </p:nvSpPr>
        <p:spPr>
          <a:xfrm>
            <a:off x="457200" y="2057400"/>
            <a:ext cx="8229600" cy="4419600"/>
          </a:xfrm>
        </p:spPr>
        <p:txBody>
          <a:bodyPr/>
          <a:lstStyle/>
          <a:p>
            <a:pPr algn="r" rtl="1"/>
            <a:r>
              <a:rPr lang="ar-EG" dirty="0" smtClean="0"/>
              <a:t>تحديد المخاطر الناتجة من الاخطار السابقة</a:t>
            </a:r>
          </a:p>
          <a:p>
            <a:pPr algn="r" rtl="1"/>
            <a:r>
              <a:rPr lang="ar-EG" dirty="0" smtClean="0"/>
              <a:t>الاخذ في الاعتبار فاعلية اجراءات التحكم المتوفرة.</a:t>
            </a:r>
          </a:p>
          <a:p>
            <a:pPr algn="r" rtl="1"/>
            <a:r>
              <a:rPr lang="ar-EG" dirty="0" smtClean="0"/>
              <a:t>تحديد طريقة ومعايير تقييم المخاطر المستخدمة.</a:t>
            </a:r>
            <a:endParaRPr lang="en-US"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2239962"/>
          </a:xfrm>
        </p:spPr>
        <p:txBody>
          <a:bodyPr>
            <a:normAutofit fontScale="90000"/>
          </a:bodyPr>
          <a:lstStyle/>
          <a:p>
            <a:r>
              <a:rPr lang="en-US" sz="4000" b="1" dirty="0" smtClean="0"/>
              <a:t>6.1.2.3 Assessment of OH&amp;S opportunities and other opportunities for the OH&amp;S</a:t>
            </a:r>
            <a:br>
              <a:rPr lang="en-US" sz="4000" b="1" dirty="0" smtClean="0"/>
            </a:br>
            <a:r>
              <a:rPr lang="en-US" sz="4000" b="1" dirty="0" smtClean="0"/>
              <a:t>management system</a:t>
            </a:r>
            <a:endParaRPr lang="en-US" sz="4000" b="1" dirty="0"/>
          </a:p>
        </p:txBody>
      </p:sp>
      <p:sp>
        <p:nvSpPr>
          <p:cNvPr id="3" name="Content Placeholder 2"/>
          <p:cNvSpPr>
            <a:spLocks noGrp="1"/>
          </p:cNvSpPr>
          <p:nvPr>
            <p:ph idx="1"/>
          </p:nvPr>
        </p:nvSpPr>
        <p:spPr>
          <a:xfrm>
            <a:off x="457200" y="2667000"/>
            <a:ext cx="8229600" cy="3810000"/>
          </a:xfrm>
        </p:spPr>
        <p:txBody>
          <a:bodyPr/>
          <a:lstStyle/>
          <a:p>
            <a:pPr algn="r" rtl="1"/>
            <a:r>
              <a:rPr lang="ar-EG" dirty="0" smtClean="0"/>
              <a:t>تقييم الفرص لتحسين نظام ادارة السلامة</a:t>
            </a:r>
          </a:p>
          <a:p>
            <a:pPr algn="r" rtl="1"/>
            <a:r>
              <a:rPr lang="ar-EG" dirty="0" smtClean="0"/>
              <a:t>فرص ازالة الاخطار وتقليل المخاطر</a:t>
            </a:r>
          </a:p>
          <a:p>
            <a:pPr algn="r" rtl="1"/>
            <a:endParaRPr lang="en-US"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944562"/>
          </a:xfrm>
        </p:spPr>
        <p:txBody>
          <a:bodyPr>
            <a:normAutofit fontScale="90000"/>
          </a:bodyPr>
          <a:lstStyle/>
          <a:p>
            <a:r>
              <a:rPr lang="en-US" sz="4000" b="1" dirty="0" smtClean="0"/>
              <a:t>6.1.3 Determination of legal requirements and other requirements</a:t>
            </a:r>
            <a:endParaRPr lang="en-US" sz="4000" b="1" dirty="0"/>
          </a:p>
        </p:txBody>
      </p:sp>
      <p:sp>
        <p:nvSpPr>
          <p:cNvPr id="3" name="Content Placeholder 2"/>
          <p:cNvSpPr>
            <a:spLocks noGrp="1"/>
          </p:cNvSpPr>
          <p:nvPr>
            <p:ph idx="1"/>
          </p:nvPr>
        </p:nvSpPr>
        <p:spPr>
          <a:xfrm>
            <a:off x="457200" y="1295400"/>
            <a:ext cx="8229600" cy="5181600"/>
          </a:xfrm>
        </p:spPr>
        <p:txBody>
          <a:bodyPr/>
          <a:lstStyle/>
          <a:p>
            <a:pPr algn="r" rtl="1"/>
            <a:r>
              <a:rPr lang="ar-EG" dirty="0" smtClean="0"/>
              <a:t>تحديد المتطلبات </a:t>
            </a:r>
            <a:r>
              <a:rPr lang="ar-EG" dirty="0" smtClean="0"/>
              <a:t>القانونية والاخري:</a:t>
            </a:r>
          </a:p>
          <a:p>
            <a:pPr algn="r" rtl="1"/>
            <a:r>
              <a:rPr lang="ar-EG" dirty="0" smtClean="0"/>
              <a:t>القوانين – التراخيص – الاحكام - الاتفاقيات.</a:t>
            </a:r>
            <a:endParaRPr lang="ar-EG" dirty="0" smtClean="0"/>
          </a:p>
          <a:p>
            <a:pPr algn="r" rtl="1"/>
            <a:r>
              <a:rPr lang="ar-EG" dirty="0" smtClean="0"/>
              <a:t>الحصول علي احدث المتطلبات القانونية</a:t>
            </a:r>
          </a:p>
          <a:p>
            <a:pPr algn="r" rtl="1"/>
            <a:r>
              <a:rPr lang="ar-EG" dirty="0" smtClean="0"/>
              <a:t>تحديد كيف تنطبق تلك المتطلبات علي المؤسسة</a:t>
            </a:r>
          </a:p>
          <a:p>
            <a:pPr algn="r" rtl="1"/>
            <a:r>
              <a:rPr lang="ar-EG" dirty="0" smtClean="0"/>
              <a:t>اخذ تلك المتطلبات في الاعتبار عند انشاء نظام ادارة السلامة.</a:t>
            </a:r>
          </a:p>
          <a:p>
            <a:pPr algn="r" rtl="1"/>
            <a:r>
              <a:rPr lang="ar-EG" dirty="0" smtClean="0"/>
              <a:t>المتطلبات القانونية يمكن ان ينتج عنها مخاطر او فرص للمؤسسة.</a:t>
            </a:r>
            <a:endParaRPr lang="en-US"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944562"/>
          </a:xfrm>
        </p:spPr>
        <p:txBody>
          <a:bodyPr>
            <a:normAutofit/>
          </a:bodyPr>
          <a:lstStyle/>
          <a:p>
            <a:r>
              <a:rPr lang="en-US" sz="4000" b="1" dirty="0" smtClean="0"/>
              <a:t>6.1.4 Planning action</a:t>
            </a:r>
            <a:endParaRPr lang="en-US" sz="4000" b="1" dirty="0"/>
          </a:p>
        </p:txBody>
      </p:sp>
      <p:sp>
        <p:nvSpPr>
          <p:cNvPr id="3" name="Content Placeholder 2"/>
          <p:cNvSpPr>
            <a:spLocks noGrp="1"/>
          </p:cNvSpPr>
          <p:nvPr>
            <p:ph idx="1"/>
          </p:nvPr>
        </p:nvSpPr>
        <p:spPr>
          <a:xfrm>
            <a:off x="457200" y="1295400"/>
            <a:ext cx="8229600" cy="5181600"/>
          </a:xfrm>
        </p:spPr>
        <p:txBody>
          <a:bodyPr/>
          <a:lstStyle/>
          <a:p>
            <a:pPr algn="r" rtl="1"/>
            <a:r>
              <a:rPr lang="ar-EG" dirty="0" smtClean="0"/>
              <a:t>تخطيط اجراءات لتحديد المخاطر والفرص والمتطلبات القانونية والاستعداد والاستجابة للطوارئ.</a:t>
            </a:r>
          </a:p>
          <a:p>
            <a:pPr algn="r" rtl="1"/>
            <a:r>
              <a:rPr lang="ar-EG" dirty="0" smtClean="0"/>
              <a:t>تخطيط كيفية دمج تلك الاجراءات مع نظام ادارة السلامة وكيفية تقييم فاعلية تلك الاجراءات.</a:t>
            </a:r>
          </a:p>
          <a:p>
            <a:pPr algn="r" rtl="1"/>
            <a:r>
              <a:rPr lang="ar-EG" dirty="0" smtClean="0"/>
              <a:t>الاخذ في الاعتبار هرم السيطرة علي المخاطر</a:t>
            </a:r>
          </a:p>
          <a:p>
            <a:pPr algn="r" rtl="1"/>
            <a:r>
              <a:rPr lang="ar-EG" dirty="0" smtClean="0"/>
              <a:t>الاخذ في الاعتبار افضل الطرق والتكنولوجيا والمتطلبات المالية والتشغيلية.</a:t>
            </a:r>
            <a:endParaRPr lang="en-US" dirty="0"/>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944562"/>
          </a:xfrm>
        </p:spPr>
        <p:txBody>
          <a:bodyPr>
            <a:normAutofit fontScale="90000"/>
          </a:bodyPr>
          <a:lstStyle/>
          <a:p>
            <a:r>
              <a:rPr lang="en-US" sz="4000" b="1" dirty="0" smtClean="0"/>
              <a:t>6.2 OH&amp;S objectives and planning to achieve them</a:t>
            </a:r>
            <a:endParaRPr lang="en-US" sz="4000" b="1" dirty="0"/>
          </a:p>
        </p:txBody>
      </p:sp>
      <p:sp>
        <p:nvSpPr>
          <p:cNvPr id="3" name="Content Placeholder 2"/>
          <p:cNvSpPr>
            <a:spLocks noGrp="1"/>
          </p:cNvSpPr>
          <p:nvPr>
            <p:ph idx="1"/>
          </p:nvPr>
        </p:nvSpPr>
        <p:spPr>
          <a:xfrm>
            <a:off x="457200" y="1295400"/>
            <a:ext cx="8229600" cy="5181600"/>
          </a:xfrm>
        </p:spPr>
        <p:txBody>
          <a:bodyPr/>
          <a:lstStyle/>
          <a:p>
            <a:pPr algn="r" rtl="1"/>
            <a:endParaRPr lang="en-US" dirty="0"/>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944562"/>
          </a:xfrm>
        </p:spPr>
        <p:txBody>
          <a:bodyPr>
            <a:normAutofit/>
          </a:bodyPr>
          <a:lstStyle/>
          <a:p>
            <a:r>
              <a:rPr lang="en-US" sz="4000" b="1" dirty="0" smtClean="0"/>
              <a:t>6.2.1 OH&amp;S objectives</a:t>
            </a:r>
            <a:endParaRPr lang="en-US" sz="4000" b="1" dirty="0"/>
          </a:p>
        </p:txBody>
      </p:sp>
      <p:sp>
        <p:nvSpPr>
          <p:cNvPr id="3" name="Content Placeholder 2"/>
          <p:cNvSpPr>
            <a:spLocks noGrp="1"/>
          </p:cNvSpPr>
          <p:nvPr>
            <p:ph idx="1"/>
          </p:nvPr>
        </p:nvSpPr>
        <p:spPr>
          <a:xfrm>
            <a:off x="457200" y="1295400"/>
            <a:ext cx="8229600" cy="5181600"/>
          </a:xfrm>
        </p:spPr>
        <p:txBody>
          <a:bodyPr/>
          <a:lstStyle/>
          <a:p>
            <a:pPr algn="r" rtl="1"/>
            <a:r>
              <a:rPr lang="ar-EG" dirty="0" smtClean="0"/>
              <a:t>انشاء اهداف علي كافة المستويات للمحافظة علي وتحسين اداء نظام ادارة السلامة</a:t>
            </a:r>
          </a:p>
          <a:p>
            <a:pPr algn="r" rtl="1"/>
            <a:r>
              <a:rPr lang="ar-EG" dirty="0" smtClean="0"/>
              <a:t>الاهداف يجب ان تكون متسقة مع سياسة السلامة</a:t>
            </a:r>
          </a:p>
          <a:p>
            <a:pPr algn="r" rtl="1"/>
            <a:r>
              <a:rPr lang="ar-EG" dirty="0" smtClean="0"/>
              <a:t>قابلة للقياس والتقييم</a:t>
            </a:r>
          </a:p>
          <a:p>
            <a:pPr algn="r" rtl="1"/>
            <a:r>
              <a:rPr lang="ar-EG" dirty="0" smtClean="0"/>
              <a:t>يتم مراقبتها وتوصيلها وتحديثها عند الحاجة</a:t>
            </a:r>
          </a:p>
          <a:p>
            <a:pPr algn="r" rtl="1"/>
            <a:r>
              <a:rPr lang="ar-EG" dirty="0" smtClean="0"/>
              <a:t>تاخذ في الاعتبار نتائج تقييم المخاطر والفرص ونتائج استشارة العاملين</a:t>
            </a:r>
            <a:endParaRPr lang="en-US" dirty="0"/>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944562"/>
          </a:xfrm>
        </p:spPr>
        <p:txBody>
          <a:bodyPr>
            <a:normAutofit fontScale="90000"/>
          </a:bodyPr>
          <a:lstStyle/>
          <a:p>
            <a:r>
              <a:rPr lang="en-US" sz="4000" b="1" dirty="0" smtClean="0"/>
              <a:t>6.2.2 Planning to achieve OH&amp;S objectives</a:t>
            </a:r>
            <a:endParaRPr lang="en-US" sz="4000" b="1" dirty="0"/>
          </a:p>
        </p:txBody>
      </p:sp>
      <p:sp>
        <p:nvSpPr>
          <p:cNvPr id="3" name="Content Placeholder 2"/>
          <p:cNvSpPr>
            <a:spLocks noGrp="1"/>
          </p:cNvSpPr>
          <p:nvPr>
            <p:ph idx="1"/>
          </p:nvPr>
        </p:nvSpPr>
        <p:spPr>
          <a:xfrm>
            <a:off x="457200" y="1295400"/>
            <a:ext cx="8229600" cy="5181600"/>
          </a:xfrm>
        </p:spPr>
        <p:txBody>
          <a:bodyPr/>
          <a:lstStyle/>
          <a:p>
            <a:pPr algn="r" rtl="1"/>
            <a:r>
              <a:rPr lang="ar-EG" dirty="0" smtClean="0"/>
              <a:t>تحديد </a:t>
            </a:r>
          </a:p>
          <a:p>
            <a:pPr algn="r" rtl="1"/>
            <a:r>
              <a:rPr lang="ar-EG" dirty="0" smtClean="0"/>
              <a:t>ما المطلوب</a:t>
            </a:r>
          </a:p>
          <a:p>
            <a:pPr algn="r" rtl="1"/>
            <a:r>
              <a:rPr lang="ar-EG" dirty="0" smtClean="0"/>
              <a:t>الموارد المطلوبة</a:t>
            </a:r>
          </a:p>
          <a:p>
            <a:pPr algn="r" rtl="1"/>
            <a:r>
              <a:rPr lang="ar-EG" dirty="0" smtClean="0"/>
              <a:t>المسئوليات</a:t>
            </a:r>
          </a:p>
          <a:p>
            <a:pPr algn="r" rtl="1"/>
            <a:r>
              <a:rPr lang="ar-EG" dirty="0" smtClean="0"/>
              <a:t>توقيت الانهاء</a:t>
            </a:r>
          </a:p>
          <a:p>
            <a:pPr algn="r" rtl="1"/>
            <a:r>
              <a:rPr lang="ar-EG" dirty="0" smtClean="0"/>
              <a:t>كيفية تقييم النتائج ومؤشرات المراقبة</a:t>
            </a:r>
          </a:p>
          <a:p>
            <a:pPr algn="r" rtl="1"/>
            <a:r>
              <a:rPr lang="ar-EG" dirty="0" smtClean="0"/>
              <a:t>كيفية دمج الاجراءات المطلوبة لتحقيق الاهداف في عمليات المؤسسة.</a:t>
            </a:r>
            <a:endParaRPr lang="en-US" dirty="0"/>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944562"/>
          </a:xfrm>
        </p:spPr>
        <p:txBody>
          <a:bodyPr>
            <a:normAutofit/>
          </a:bodyPr>
          <a:lstStyle/>
          <a:p>
            <a:r>
              <a:rPr lang="en-US" sz="4000" b="1" dirty="0" smtClean="0"/>
              <a:t>7. Support</a:t>
            </a:r>
            <a:endParaRPr lang="en-US" sz="4000" b="1" dirty="0"/>
          </a:p>
        </p:txBody>
      </p:sp>
      <p:sp>
        <p:nvSpPr>
          <p:cNvPr id="3" name="Content Placeholder 2"/>
          <p:cNvSpPr>
            <a:spLocks noGrp="1"/>
          </p:cNvSpPr>
          <p:nvPr>
            <p:ph idx="1"/>
          </p:nvPr>
        </p:nvSpPr>
        <p:spPr>
          <a:xfrm>
            <a:off x="457200" y="1295400"/>
            <a:ext cx="8229600" cy="5181600"/>
          </a:xfrm>
        </p:spPr>
        <p:txBody>
          <a:bodyPr/>
          <a:lstStyle/>
          <a:p>
            <a:pPr marL="514350" indent="-514350">
              <a:buNone/>
            </a:pPr>
            <a:r>
              <a:rPr lang="en-US" b="1" dirty="0" smtClean="0"/>
              <a:t>7.1. Resource</a:t>
            </a:r>
          </a:p>
          <a:p>
            <a:pPr marL="514350" indent="-514350">
              <a:buNone/>
            </a:pPr>
            <a:r>
              <a:rPr lang="en-US" b="1" dirty="0" smtClean="0"/>
              <a:t>7.2. Competence</a:t>
            </a:r>
          </a:p>
          <a:p>
            <a:pPr marL="514350" indent="-514350">
              <a:buNone/>
            </a:pPr>
            <a:r>
              <a:rPr lang="en-US" b="1" dirty="0" smtClean="0"/>
              <a:t>7.3. Awareness</a:t>
            </a:r>
          </a:p>
          <a:p>
            <a:pPr marL="514350" indent="-514350">
              <a:buNone/>
            </a:pPr>
            <a:r>
              <a:rPr lang="en-US" b="1" dirty="0" smtClean="0"/>
              <a:t>7.4. Communication (Internal and External)</a:t>
            </a:r>
          </a:p>
          <a:p>
            <a:pPr marL="514350" indent="-514350">
              <a:buNone/>
            </a:pPr>
            <a:r>
              <a:rPr lang="en-US" b="1" dirty="0" smtClean="0"/>
              <a:t>7.5. Documented Information:</a:t>
            </a:r>
          </a:p>
          <a:p>
            <a:r>
              <a:rPr lang="en-US" dirty="0" smtClean="0"/>
              <a:t>Creating and Update</a:t>
            </a:r>
          </a:p>
          <a:p>
            <a:r>
              <a:rPr lang="en-US" dirty="0" smtClean="0"/>
              <a:t>Control of Documented Information</a:t>
            </a:r>
            <a:endParaRPr lang="ar-EG" dirty="0" smtClean="0"/>
          </a:p>
          <a:p>
            <a:pPr algn="r" rtl="1"/>
            <a:endParaRPr lang="en-US" dirty="0"/>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944562"/>
          </a:xfrm>
        </p:spPr>
        <p:txBody>
          <a:bodyPr>
            <a:normAutofit/>
          </a:bodyPr>
          <a:lstStyle/>
          <a:p>
            <a:pPr marL="514350" indent="-514350"/>
            <a:r>
              <a:rPr lang="en-US" sz="4000" b="1" dirty="0" smtClean="0"/>
              <a:t>7.1. Resource</a:t>
            </a:r>
          </a:p>
        </p:txBody>
      </p:sp>
      <p:sp>
        <p:nvSpPr>
          <p:cNvPr id="3" name="Content Placeholder 2"/>
          <p:cNvSpPr>
            <a:spLocks noGrp="1"/>
          </p:cNvSpPr>
          <p:nvPr>
            <p:ph idx="1"/>
          </p:nvPr>
        </p:nvSpPr>
        <p:spPr>
          <a:xfrm>
            <a:off x="457200" y="1295400"/>
            <a:ext cx="8229600" cy="5181600"/>
          </a:xfrm>
        </p:spPr>
        <p:txBody>
          <a:bodyPr/>
          <a:lstStyle/>
          <a:p>
            <a:pPr algn="r" rtl="1"/>
            <a:r>
              <a:rPr lang="ar-EG" dirty="0" smtClean="0"/>
              <a:t>تحديد الموارد اللازمة لنظام ادارة السلامة</a:t>
            </a:r>
          </a:p>
          <a:p>
            <a:pPr algn="r" rtl="1"/>
            <a:r>
              <a:rPr lang="ar-EG" dirty="0" smtClean="0"/>
              <a:t>توفير تلك الموارد</a:t>
            </a:r>
            <a:endParaRPr lang="en-US" dirty="0"/>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944562"/>
          </a:xfrm>
        </p:spPr>
        <p:txBody>
          <a:bodyPr>
            <a:normAutofit/>
          </a:bodyPr>
          <a:lstStyle/>
          <a:p>
            <a:r>
              <a:rPr lang="en-US" sz="4000" b="1" dirty="0" smtClean="0"/>
              <a:t>7.2 Competence</a:t>
            </a:r>
            <a:endParaRPr lang="en-US" sz="4000" b="1" dirty="0"/>
          </a:p>
        </p:txBody>
      </p:sp>
      <p:sp>
        <p:nvSpPr>
          <p:cNvPr id="3" name="Content Placeholder 2"/>
          <p:cNvSpPr>
            <a:spLocks noGrp="1"/>
          </p:cNvSpPr>
          <p:nvPr>
            <p:ph idx="1"/>
          </p:nvPr>
        </p:nvSpPr>
        <p:spPr>
          <a:xfrm>
            <a:off x="457200" y="1295400"/>
            <a:ext cx="8229600" cy="5181600"/>
          </a:xfrm>
        </p:spPr>
        <p:txBody>
          <a:bodyPr/>
          <a:lstStyle/>
          <a:p>
            <a:pPr algn="r" rtl="1"/>
            <a:r>
              <a:rPr lang="ar-EG" dirty="0" smtClean="0"/>
              <a:t>تحديد مستوي الكفاءة المطلوبة للعاملين</a:t>
            </a:r>
          </a:p>
          <a:p>
            <a:pPr algn="r" rtl="1"/>
            <a:r>
              <a:rPr lang="ar-EG" dirty="0" smtClean="0"/>
              <a:t>التاكد من العامل كفؤ خاصة القدرة علي تحديد الاخطار</a:t>
            </a:r>
          </a:p>
          <a:p>
            <a:pPr algn="r" rtl="1"/>
            <a:r>
              <a:rPr lang="ar-EG" dirty="0" smtClean="0"/>
              <a:t>التاكد من مستوي الكفاءة بناءا علي التعليم والتدريب اوالخبرة</a:t>
            </a:r>
          </a:p>
          <a:p>
            <a:pPr algn="r" rtl="1"/>
            <a:r>
              <a:rPr lang="ar-EG" dirty="0" smtClean="0"/>
              <a:t>اتخاذ الاجراءات اللازمة للحصول علي الكفاءة وتقييم فاعلية تلك الاجراءات مثل:</a:t>
            </a:r>
          </a:p>
          <a:p>
            <a:pPr algn="r" rtl="1"/>
            <a:r>
              <a:rPr lang="ar-EG" dirty="0" smtClean="0"/>
              <a:t>تقديم التدريب – تغيير المهام – تعيين افراد لديهم الكفاءة المطلوبة.</a:t>
            </a:r>
            <a:endParaRPr lang="en-US" dirty="0"/>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944562"/>
          </a:xfrm>
        </p:spPr>
        <p:txBody>
          <a:bodyPr>
            <a:normAutofit/>
          </a:bodyPr>
          <a:lstStyle/>
          <a:p>
            <a:r>
              <a:rPr lang="en-US" sz="4000" b="1" dirty="0" smtClean="0"/>
              <a:t>7.3 Awareness</a:t>
            </a:r>
            <a:endParaRPr lang="en-US" sz="4000" b="1" dirty="0"/>
          </a:p>
        </p:txBody>
      </p:sp>
      <p:sp>
        <p:nvSpPr>
          <p:cNvPr id="3" name="Content Placeholder 2"/>
          <p:cNvSpPr>
            <a:spLocks noGrp="1"/>
          </p:cNvSpPr>
          <p:nvPr>
            <p:ph idx="1"/>
          </p:nvPr>
        </p:nvSpPr>
        <p:spPr>
          <a:xfrm>
            <a:off x="457200" y="1295400"/>
            <a:ext cx="8229600" cy="5181600"/>
          </a:xfrm>
        </p:spPr>
        <p:txBody>
          <a:bodyPr/>
          <a:lstStyle/>
          <a:p>
            <a:pPr algn="r" rtl="1"/>
            <a:r>
              <a:rPr lang="ar-EG" dirty="0" smtClean="0"/>
              <a:t>توعية العاملين ب</a:t>
            </a:r>
          </a:p>
          <a:p>
            <a:pPr algn="r" rtl="1"/>
            <a:r>
              <a:rPr lang="ar-EG" dirty="0" smtClean="0"/>
              <a:t>سياسة السلامة</a:t>
            </a:r>
          </a:p>
          <a:p>
            <a:pPr algn="r" rtl="1"/>
            <a:r>
              <a:rPr lang="ar-EG" dirty="0" smtClean="0"/>
              <a:t>اهداف السلامة</a:t>
            </a:r>
          </a:p>
          <a:p>
            <a:pPr algn="r" rtl="1"/>
            <a:r>
              <a:rPr lang="ar-EG" dirty="0" smtClean="0"/>
              <a:t>دورهم في فاعلية نظام ادارة السلامة</a:t>
            </a:r>
          </a:p>
          <a:p>
            <a:pPr algn="r" rtl="1"/>
            <a:r>
              <a:rPr lang="ar-EG" dirty="0" smtClean="0"/>
              <a:t>مخاطر عدم الامتثال لمتطلبات السلامة</a:t>
            </a:r>
          </a:p>
          <a:p>
            <a:pPr algn="r" rtl="1"/>
            <a:r>
              <a:rPr lang="ar-EG" dirty="0" smtClean="0"/>
              <a:t>الحوادث ونتائج تحليلها</a:t>
            </a:r>
          </a:p>
          <a:p>
            <a:pPr algn="r" rtl="1"/>
            <a:r>
              <a:rPr lang="ar-EG" dirty="0" smtClean="0"/>
              <a:t>الاخطاروالمخاطر </a:t>
            </a:r>
          </a:p>
          <a:p>
            <a:pPr algn="r" rtl="1"/>
            <a:r>
              <a:rPr lang="ar-EG" dirty="0" smtClean="0"/>
              <a:t>امكانية ابعاد انفسهم من مناطق الخطر الجسيم وترتيبات حمايتهم في حالة عمل ذلك.</a:t>
            </a:r>
            <a:endParaRPr lang="en-US" dirty="0"/>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944562"/>
          </a:xfrm>
        </p:spPr>
        <p:txBody>
          <a:bodyPr>
            <a:normAutofit/>
          </a:bodyPr>
          <a:lstStyle/>
          <a:p>
            <a:r>
              <a:rPr lang="en-US" sz="4000" b="1" dirty="0" smtClean="0"/>
              <a:t>7.4 Communication</a:t>
            </a:r>
            <a:endParaRPr lang="en-US" sz="4000" b="1" dirty="0"/>
          </a:p>
        </p:txBody>
      </p:sp>
      <p:sp>
        <p:nvSpPr>
          <p:cNvPr id="3" name="Content Placeholder 2"/>
          <p:cNvSpPr>
            <a:spLocks noGrp="1"/>
          </p:cNvSpPr>
          <p:nvPr>
            <p:ph idx="1"/>
          </p:nvPr>
        </p:nvSpPr>
        <p:spPr>
          <a:xfrm>
            <a:off x="457200" y="1295400"/>
            <a:ext cx="8229600" cy="5181600"/>
          </a:xfrm>
        </p:spPr>
        <p:txBody>
          <a:bodyPr>
            <a:normAutofit fontScale="92500" lnSpcReduction="10000"/>
          </a:bodyPr>
          <a:lstStyle/>
          <a:p>
            <a:pPr algn="r" rtl="1"/>
            <a:r>
              <a:rPr lang="ar-EG" dirty="0" smtClean="0"/>
              <a:t>تحديد ما المطلوب توصيلة ومتي وكيفية الاتصال</a:t>
            </a:r>
          </a:p>
          <a:p>
            <a:pPr algn="r" rtl="1"/>
            <a:r>
              <a:rPr lang="ar-EG" dirty="0" smtClean="0"/>
              <a:t>الاتصال مع العاملين والمقاولين والاطراف المهتمة</a:t>
            </a:r>
          </a:p>
          <a:p>
            <a:pPr algn="r" rtl="1"/>
            <a:r>
              <a:rPr lang="ar-EG" dirty="0" smtClean="0"/>
              <a:t>الاخذ في الاعتبار التنوع (النوع – اللغة – الثقافة – حالات العجز)</a:t>
            </a:r>
          </a:p>
          <a:p>
            <a:pPr algn="r" rtl="1"/>
            <a:r>
              <a:rPr lang="ar-EG" dirty="0" smtClean="0"/>
              <a:t>الاخذ في الاعتبار وجهة نظر الجهات الخارجية عند انشاء نظام للاتصالات.</a:t>
            </a:r>
          </a:p>
          <a:p>
            <a:pPr algn="r" rtl="1"/>
            <a:r>
              <a:rPr lang="ar-EG" dirty="0" smtClean="0"/>
              <a:t>الاستجابة للاتصالات</a:t>
            </a:r>
          </a:p>
          <a:p>
            <a:pPr algn="r" rtl="1"/>
            <a:r>
              <a:rPr lang="ar-EG" dirty="0" smtClean="0"/>
              <a:t>المعلومات التي يتم توصيلها تكون متاحة ومتسقة مع المعلومات المتولدة من نظام السلامة.</a:t>
            </a:r>
          </a:p>
          <a:p>
            <a:pPr algn="r" rtl="1"/>
            <a:r>
              <a:rPr lang="ar-EG" dirty="0" smtClean="0"/>
              <a:t>التاكد من ان الاتصالات مع العاملين تساهم في مشاركتهم في نظام ادارة السلامة.</a:t>
            </a:r>
            <a:endParaRPr lang="en-US" dirty="0"/>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944562"/>
          </a:xfrm>
        </p:spPr>
        <p:txBody>
          <a:bodyPr>
            <a:normAutofit/>
          </a:bodyPr>
          <a:lstStyle/>
          <a:p>
            <a:r>
              <a:rPr lang="en-US" sz="4000" b="1" dirty="0" smtClean="0"/>
              <a:t>7.5 Documented information</a:t>
            </a:r>
            <a:endParaRPr lang="en-US" sz="4000" b="1" dirty="0"/>
          </a:p>
        </p:txBody>
      </p:sp>
      <p:sp>
        <p:nvSpPr>
          <p:cNvPr id="3" name="Content Placeholder 2"/>
          <p:cNvSpPr>
            <a:spLocks noGrp="1"/>
          </p:cNvSpPr>
          <p:nvPr>
            <p:ph idx="1"/>
          </p:nvPr>
        </p:nvSpPr>
        <p:spPr>
          <a:xfrm>
            <a:off x="457200" y="1295400"/>
            <a:ext cx="8229600" cy="5181600"/>
          </a:xfrm>
        </p:spPr>
        <p:txBody>
          <a:bodyPr>
            <a:normAutofit/>
          </a:bodyPr>
          <a:lstStyle/>
          <a:p>
            <a:pPr algn="r" rtl="1"/>
            <a:r>
              <a:rPr lang="ar-EG" dirty="0" smtClean="0"/>
              <a:t>نظام ادارة السلامة يجب ان يشمل الوثائق المطلوبة بواسطة مواصفة الايزو والوثائق الضرورية لتفعيل نظام ادارة السلامة.</a:t>
            </a:r>
          </a:p>
          <a:p>
            <a:pPr algn="r" rtl="1"/>
            <a:r>
              <a:rPr lang="ar-EG" dirty="0" smtClean="0"/>
              <a:t>حجم التوثيق يختلف من مؤسسة لاخري حسب:</a:t>
            </a:r>
          </a:p>
          <a:p>
            <a:pPr algn="r" rtl="1"/>
            <a:r>
              <a:rPr lang="ar-EG" dirty="0" smtClean="0"/>
              <a:t>حجم المؤسسة ونشاطها وعملياتها </a:t>
            </a:r>
          </a:p>
          <a:p>
            <a:pPr algn="r" rtl="1"/>
            <a:r>
              <a:rPr lang="ar-EG" dirty="0" smtClean="0"/>
              <a:t>مدي تعقيد العمليات</a:t>
            </a:r>
          </a:p>
          <a:p>
            <a:pPr algn="r" rtl="1"/>
            <a:r>
              <a:rPr lang="ar-EG" dirty="0" smtClean="0"/>
              <a:t>مدي كفاءة العاملين</a:t>
            </a:r>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944562"/>
          </a:xfrm>
        </p:spPr>
        <p:txBody>
          <a:bodyPr>
            <a:normAutofit/>
          </a:bodyPr>
          <a:lstStyle/>
          <a:p>
            <a:r>
              <a:rPr lang="en-US" sz="4000" b="1" dirty="0" smtClean="0"/>
              <a:t>7.5 Documented information</a:t>
            </a:r>
            <a:endParaRPr lang="en-US" sz="4000" b="1" dirty="0"/>
          </a:p>
        </p:txBody>
      </p:sp>
      <p:sp>
        <p:nvSpPr>
          <p:cNvPr id="3" name="Content Placeholder 2"/>
          <p:cNvSpPr>
            <a:spLocks noGrp="1"/>
          </p:cNvSpPr>
          <p:nvPr>
            <p:ph idx="1"/>
          </p:nvPr>
        </p:nvSpPr>
        <p:spPr>
          <a:xfrm>
            <a:off x="457200" y="1295400"/>
            <a:ext cx="8229600" cy="5181600"/>
          </a:xfrm>
        </p:spPr>
        <p:txBody>
          <a:bodyPr>
            <a:normAutofit lnSpcReduction="10000"/>
          </a:bodyPr>
          <a:lstStyle/>
          <a:p>
            <a:pPr algn="r" rtl="1"/>
            <a:r>
              <a:rPr lang="ar-EG" dirty="0" smtClean="0"/>
              <a:t>تعريف الوثائق (عنوان – تاريخ – مالك – رقم)</a:t>
            </a:r>
          </a:p>
          <a:p>
            <a:pPr algn="r" rtl="1"/>
            <a:r>
              <a:rPr lang="ar-EG" dirty="0" smtClean="0"/>
              <a:t>اللغة والوسيط (ورقي – الكتروني)</a:t>
            </a:r>
          </a:p>
          <a:p>
            <a:pPr algn="r" rtl="1"/>
            <a:r>
              <a:rPr lang="ar-EG" dirty="0" smtClean="0"/>
              <a:t>المراجعة والموافقة.</a:t>
            </a:r>
          </a:p>
          <a:p>
            <a:pPr algn="r" rtl="1"/>
            <a:r>
              <a:rPr lang="ar-EG" dirty="0" smtClean="0"/>
              <a:t>متاحة للاستخدام في المكان والوقت المطلوب</a:t>
            </a:r>
          </a:p>
          <a:p>
            <a:pPr algn="r" rtl="1"/>
            <a:r>
              <a:rPr lang="ar-EG" dirty="0" smtClean="0"/>
              <a:t>حماية الوثائق (السرية – الاستخدام الغير مقصود)</a:t>
            </a:r>
          </a:p>
          <a:p>
            <a:pPr algn="r" rtl="1"/>
            <a:r>
              <a:rPr lang="ar-EG" dirty="0" smtClean="0"/>
              <a:t>التوزيع والاستدعاء والاستخدام والحصول عليها</a:t>
            </a:r>
          </a:p>
          <a:p>
            <a:pPr algn="r" rtl="1"/>
            <a:r>
              <a:rPr lang="ar-EG" dirty="0" smtClean="0"/>
              <a:t>التخزين والحفظ</a:t>
            </a:r>
          </a:p>
          <a:p>
            <a:pPr algn="r" rtl="1"/>
            <a:r>
              <a:rPr lang="ar-EG" dirty="0" smtClean="0"/>
              <a:t>التحكم في التغيرات</a:t>
            </a:r>
          </a:p>
          <a:p>
            <a:pPr algn="r" rtl="1"/>
            <a:r>
              <a:rPr lang="ar-EG" dirty="0" smtClean="0"/>
              <a:t>الاحتفاظ والتخلص من الوثائق</a:t>
            </a:r>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944562"/>
          </a:xfrm>
        </p:spPr>
        <p:txBody>
          <a:bodyPr>
            <a:normAutofit/>
          </a:bodyPr>
          <a:lstStyle/>
          <a:p>
            <a:r>
              <a:rPr lang="en-US" sz="4000" b="1" dirty="0" smtClean="0"/>
              <a:t>7.5 Documented information</a:t>
            </a:r>
            <a:endParaRPr lang="en-US" sz="4000" b="1" dirty="0"/>
          </a:p>
        </p:txBody>
      </p:sp>
      <p:sp>
        <p:nvSpPr>
          <p:cNvPr id="3" name="Content Placeholder 2"/>
          <p:cNvSpPr>
            <a:spLocks noGrp="1"/>
          </p:cNvSpPr>
          <p:nvPr>
            <p:ph idx="1"/>
          </p:nvPr>
        </p:nvSpPr>
        <p:spPr>
          <a:xfrm>
            <a:off x="457200" y="1295400"/>
            <a:ext cx="8229600" cy="5181600"/>
          </a:xfrm>
        </p:spPr>
        <p:txBody>
          <a:bodyPr/>
          <a:lstStyle/>
          <a:p>
            <a:pPr algn="r" rtl="1"/>
            <a:r>
              <a:rPr lang="ar-EG" dirty="0" smtClean="0"/>
              <a:t>الوثائق ذات المنشأ الخارجي يجب تحديدها والتحكم فيها.</a:t>
            </a:r>
          </a:p>
          <a:p>
            <a:pPr algn="r" rtl="1"/>
            <a:r>
              <a:rPr lang="ar-EG" dirty="0" smtClean="0"/>
              <a:t>تحديد اجراءات الحصول علي الوثائق (من يستطيع رؤيتها او مراجعتها وتحديثها)</a:t>
            </a:r>
            <a:endParaRPr lang="en-US" dirty="0"/>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944562"/>
          </a:xfrm>
        </p:spPr>
        <p:txBody>
          <a:bodyPr>
            <a:normAutofit/>
          </a:bodyPr>
          <a:lstStyle/>
          <a:p>
            <a:r>
              <a:rPr lang="en-US" sz="4000" b="1" dirty="0" smtClean="0"/>
              <a:t>8 Operation</a:t>
            </a:r>
            <a:endParaRPr lang="en-US" sz="4000" b="1" dirty="0"/>
          </a:p>
        </p:txBody>
      </p:sp>
      <p:sp>
        <p:nvSpPr>
          <p:cNvPr id="3" name="Content Placeholder 2"/>
          <p:cNvSpPr>
            <a:spLocks noGrp="1"/>
          </p:cNvSpPr>
          <p:nvPr>
            <p:ph idx="1"/>
          </p:nvPr>
        </p:nvSpPr>
        <p:spPr>
          <a:xfrm>
            <a:off x="457200" y="1295400"/>
            <a:ext cx="8229600" cy="5181600"/>
          </a:xfrm>
        </p:spPr>
        <p:txBody>
          <a:bodyPr/>
          <a:lstStyle/>
          <a:p>
            <a:r>
              <a:rPr lang="en-US" b="1" dirty="0" smtClean="0"/>
              <a:t>8.1. Operation Planning and Control</a:t>
            </a:r>
            <a:endParaRPr lang="en-US" dirty="0" smtClean="0"/>
          </a:p>
          <a:p>
            <a:r>
              <a:rPr lang="en-US" dirty="0" smtClean="0"/>
              <a:t>8.1.1 General</a:t>
            </a:r>
          </a:p>
          <a:p>
            <a:r>
              <a:rPr lang="en-US" dirty="0" smtClean="0"/>
              <a:t>8.1.2. Eliminating Hazards and Reducing Risks</a:t>
            </a:r>
          </a:p>
          <a:p>
            <a:r>
              <a:rPr lang="en-US" dirty="0" smtClean="0"/>
              <a:t>8.1.3. MOC</a:t>
            </a:r>
          </a:p>
          <a:p>
            <a:r>
              <a:rPr lang="en-US" dirty="0" smtClean="0"/>
              <a:t>8.1.4. Procurement</a:t>
            </a:r>
          </a:p>
          <a:p>
            <a:r>
              <a:rPr lang="en-US" b="1" dirty="0" smtClean="0"/>
              <a:t>8.2. Emergency Preparedness and Response</a:t>
            </a:r>
            <a:endParaRPr lang="ar-EG" b="1" dirty="0" smtClean="0"/>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944562"/>
          </a:xfrm>
        </p:spPr>
        <p:txBody>
          <a:bodyPr>
            <a:normAutofit fontScale="90000"/>
          </a:bodyPr>
          <a:lstStyle/>
          <a:p>
            <a:r>
              <a:rPr lang="en-US" sz="4000" b="1" dirty="0" smtClean="0"/>
              <a:t>8.1.1 Operational planning and control</a:t>
            </a:r>
            <a:r>
              <a:rPr lang="ar-EG" sz="4000" b="1" dirty="0" smtClean="0"/>
              <a:t> - </a:t>
            </a:r>
            <a:r>
              <a:rPr lang="en-US" sz="4000" b="1" dirty="0" smtClean="0"/>
              <a:t>General</a:t>
            </a:r>
            <a:endParaRPr lang="en-US" sz="4000" b="1" dirty="0"/>
          </a:p>
        </p:txBody>
      </p:sp>
      <p:sp>
        <p:nvSpPr>
          <p:cNvPr id="3" name="Content Placeholder 2"/>
          <p:cNvSpPr>
            <a:spLocks noGrp="1"/>
          </p:cNvSpPr>
          <p:nvPr>
            <p:ph idx="1"/>
          </p:nvPr>
        </p:nvSpPr>
        <p:spPr>
          <a:xfrm>
            <a:off x="457200" y="1295400"/>
            <a:ext cx="8229600" cy="5181600"/>
          </a:xfrm>
        </p:spPr>
        <p:txBody>
          <a:bodyPr/>
          <a:lstStyle/>
          <a:p>
            <a:pPr algn="r" rtl="1"/>
            <a:r>
              <a:rPr lang="ar-EG" dirty="0" smtClean="0"/>
              <a:t>تخطيط وتنفيذ والتحكم في العمليات اللازمة لتنفيذ نظام السلامة عن طريق:</a:t>
            </a:r>
          </a:p>
          <a:p>
            <a:pPr algn="r" rtl="1"/>
            <a:r>
              <a:rPr lang="ar-EG" dirty="0" smtClean="0"/>
              <a:t>وضع المعايير للعمليات</a:t>
            </a:r>
          </a:p>
          <a:p>
            <a:pPr algn="r" rtl="1"/>
            <a:r>
              <a:rPr lang="ar-EG" dirty="0" smtClean="0"/>
              <a:t>تنفيذ التحكم في العمليات طبقا للمعايير</a:t>
            </a:r>
          </a:p>
          <a:p>
            <a:pPr algn="r" rtl="1"/>
            <a:r>
              <a:rPr lang="ar-EG" dirty="0" smtClean="0"/>
              <a:t>الاحتفاظ بالوثائق للتاكد من ان العمليات تمت طبقا للمخطط.</a:t>
            </a:r>
          </a:p>
          <a:p>
            <a:pPr algn="r" rtl="1"/>
            <a:r>
              <a:rPr lang="ar-EG" dirty="0" smtClean="0"/>
              <a:t>ملائمة العمل للعاملين.</a:t>
            </a:r>
          </a:p>
          <a:p>
            <a:pPr algn="r" rtl="1"/>
            <a:r>
              <a:rPr lang="ar-EG" dirty="0" smtClean="0"/>
              <a:t>في حالة وجود اكثر من شركة تعمل في نفس المكان يجب تنسيق العمل مع تلك المؤسسات</a:t>
            </a:r>
            <a:endParaRPr lang="en-US" dirty="0"/>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944562"/>
          </a:xfrm>
        </p:spPr>
        <p:txBody>
          <a:bodyPr>
            <a:normAutofit fontScale="90000"/>
          </a:bodyPr>
          <a:lstStyle/>
          <a:p>
            <a:r>
              <a:rPr lang="en-US" sz="4000" b="1" dirty="0" smtClean="0"/>
              <a:t>8.1.2 Eliminating hazards and reducing OH&amp;S risks</a:t>
            </a:r>
            <a:endParaRPr lang="en-US" sz="4000" b="1" dirty="0"/>
          </a:p>
        </p:txBody>
      </p:sp>
      <p:sp>
        <p:nvSpPr>
          <p:cNvPr id="3" name="Content Placeholder 2"/>
          <p:cNvSpPr>
            <a:spLocks noGrp="1"/>
          </p:cNvSpPr>
          <p:nvPr>
            <p:ph idx="1"/>
          </p:nvPr>
        </p:nvSpPr>
        <p:spPr>
          <a:xfrm>
            <a:off x="457200" y="1295400"/>
            <a:ext cx="8229600" cy="5181600"/>
          </a:xfrm>
        </p:spPr>
        <p:txBody>
          <a:bodyPr/>
          <a:lstStyle/>
          <a:p>
            <a:pPr algn="r" rtl="1"/>
            <a:r>
              <a:rPr lang="ar-EG" dirty="0" smtClean="0"/>
              <a:t>انشاء عمليات لازالة الاخطار وتقليل المخاطر طبقا للتسلسل الاتي:</a:t>
            </a:r>
          </a:p>
          <a:p>
            <a:pPr algn="r" rtl="1"/>
            <a:r>
              <a:rPr lang="ar-EG" dirty="0" smtClean="0"/>
              <a:t>ازالة الاخطار</a:t>
            </a:r>
          </a:p>
          <a:p>
            <a:pPr algn="r" rtl="1"/>
            <a:r>
              <a:rPr lang="ar-EG" dirty="0" smtClean="0"/>
              <a:t>الاستبدال بعمليات او مواد او معدات اقل خطورة</a:t>
            </a:r>
          </a:p>
          <a:p>
            <a:pPr algn="r" rtl="1"/>
            <a:r>
              <a:rPr lang="ar-EG" dirty="0" smtClean="0"/>
              <a:t>استخدام التحكم الهندسي</a:t>
            </a:r>
          </a:p>
          <a:p>
            <a:pPr algn="r" rtl="1"/>
            <a:r>
              <a:rPr lang="ar-EG" dirty="0" smtClean="0"/>
              <a:t>اعادة ترتيب العمل</a:t>
            </a:r>
          </a:p>
          <a:p>
            <a:pPr algn="r" rtl="1"/>
            <a:r>
              <a:rPr lang="ar-EG" dirty="0" smtClean="0"/>
              <a:t>استخدام التحكم الاداري بما فية التدريب.</a:t>
            </a:r>
          </a:p>
          <a:p>
            <a:pPr algn="r" rtl="1"/>
            <a:r>
              <a:rPr lang="ar-EG" dirty="0" smtClean="0"/>
              <a:t>استخدام معدات الحماية الشخصية المناسبة.</a:t>
            </a:r>
            <a:endParaRPr lang="en-US" dirty="0"/>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944562"/>
          </a:xfrm>
        </p:spPr>
        <p:txBody>
          <a:bodyPr>
            <a:normAutofit/>
          </a:bodyPr>
          <a:lstStyle/>
          <a:p>
            <a:r>
              <a:rPr lang="en-US" sz="4000" b="1" dirty="0" smtClean="0"/>
              <a:t>8.1.3 Management of change</a:t>
            </a:r>
            <a:endParaRPr lang="en-US" sz="4000" b="1" dirty="0"/>
          </a:p>
        </p:txBody>
      </p:sp>
      <p:sp>
        <p:nvSpPr>
          <p:cNvPr id="3" name="Content Placeholder 2"/>
          <p:cNvSpPr>
            <a:spLocks noGrp="1"/>
          </p:cNvSpPr>
          <p:nvPr>
            <p:ph idx="1"/>
          </p:nvPr>
        </p:nvSpPr>
        <p:spPr>
          <a:xfrm>
            <a:off x="457200" y="1295400"/>
            <a:ext cx="8229600" cy="5181600"/>
          </a:xfrm>
        </p:spPr>
        <p:txBody>
          <a:bodyPr>
            <a:normAutofit lnSpcReduction="10000"/>
          </a:bodyPr>
          <a:lstStyle/>
          <a:p>
            <a:pPr algn="r" rtl="1"/>
            <a:r>
              <a:rPr lang="ar-EG" dirty="0" smtClean="0"/>
              <a:t>انشاء عمليات لتنفيذ والتحكم في التغيرات المخططة المؤقتة والدائمة.</a:t>
            </a:r>
          </a:p>
          <a:p>
            <a:pPr algn="r" rtl="1"/>
            <a:r>
              <a:rPr lang="ar-EG" dirty="0" smtClean="0"/>
              <a:t>منتجات جديدة – عمليات جديدة </a:t>
            </a:r>
          </a:p>
          <a:p>
            <a:pPr algn="r" rtl="1"/>
            <a:r>
              <a:rPr lang="ar-EG" dirty="0" smtClean="0"/>
              <a:t>تغيرات بموقع العمل – ظروف العمل – العمالة – المعدات</a:t>
            </a:r>
          </a:p>
          <a:p>
            <a:pPr algn="r" rtl="1"/>
            <a:r>
              <a:rPr lang="ar-EG" dirty="0" smtClean="0"/>
              <a:t>تغيرات القوانين</a:t>
            </a:r>
          </a:p>
          <a:p>
            <a:pPr algn="r" rtl="1"/>
            <a:r>
              <a:rPr lang="ar-EG" dirty="0" smtClean="0"/>
              <a:t>تغير المعلومات الخاصة بالاخطار والمخاطر</a:t>
            </a:r>
          </a:p>
          <a:p>
            <a:pPr algn="r" rtl="1"/>
            <a:r>
              <a:rPr lang="ar-EG" dirty="0" smtClean="0"/>
              <a:t>استحداث تكنولوجيا جديدة</a:t>
            </a:r>
          </a:p>
          <a:p>
            <a:pPr algn="r" rtl="1"/>
            <a:r>
              <a:rPr lang="ar-EG" dirty="0" smtClean="0"/>
              <a:t>يلزم مراجعة عواقب التغييرات واتخاذ اجراءات ازالة تلك العواقب</a:t>
            </a:r>
          </a:p>
          <a:p>
            <a:pPr algn="r" rtl="1"/>
            <a:r>
              <a:rPr lang="ar-EG" dirty="0" smtClean="0"/>
              <a:t>التغييرات يمكن ان تؤدي الي مخاطر او فرص</a:t>
            </a:r>
            <a:endParaRPr lang="en-US" dirty="0"/>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944562"/>
          </a:xfrm>
        </p:spPr>
        <p:txBody>
          <a:bodyPr>
            <a:normAutofit/>
          </a:bodyPr>
          <a:lstStyle/>
          <a:p>
            <a:r>
              <a:rPr lang="en-US" sz="4000" b="1" dirty="0" smtClean="0"/>
              <a:t>8.1.4 Procurement</a:t>
            </a:r>
            <a:endParaRPr lang="en-US" sz="4000" b="1" dirty="0"/>
          </a:p>
        </p:txBody>
      </p:sp>
      <p:sp>
        <p:nvSpPr>
          <p:cNvPr id="3" name="Content Placeholder 2"/>
          <p:cNvSpPr>
            <a:spLocks noGrp="1"/>
          </p:cNvSpPr>
          <p:nvPr>
            <p:ph idx="1"/>
          </p:nvPr>
        </p:nvSpPr>
        <p:spPr>
          <a:xfrm>
            <a:off x="457200" y="1295400"/>
            <a:ext cx="8229600" cy="5181600"/>
          </a:xfrm>
        </p:spPr>
        <p:txBody>
          <a:bodyPr/>
          <a:lstStyle/>
          <a:p>
            <a:pPr algn="l"/>
            <a:r>
              <a:rPr lang="en-US" b="1" dirty="0" smtClean="0"/>
              <a:t>8.1.4.1 General</a:t>
            </a:r>
            <a:endParaRPr lang="ar-EG" b="1" dirty="0" smtClean="0"/>
          </a:p>
          <a:p>
            <a:r>
              <a:rPr lang="en-US" b="1" dirty="0" smtClean="0"/>
              <a:t>8.1.4.2 Contractors</a:t>
            </a:r>
            <a:endParaRPr lang="ar-EG" b="1" dirty="0" smtClean="0"/>
          </a:p>
          <a:p>
            <a:r>
              <a:rPr lang="en-US" b="1" dirty="0" smtClean="0"/>
              <a:t>8.1.4.3 Outsourcing</a:t>
            </a:r>
            <a:endParaRPr lang="en-US" dirty="0"/>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944562"/>
          </a:xfrm>
        </p:spPr>
        <p:txBody>
          <a:bodyPr>
            <a:normAutofit/>
          </a:bodyPr>
          <a:lstStyle/>
          <a:p>
            <a:r>
              <a:rPr lang="en-US" sz="4000" b="1" dirty="0" smtClean="0"/>
              <a:t>8.1.4.1 General</a:t>
            </a:r>
            <a:endParaRPr lang="ar-EG" sz="4000" b="1" dirty="0" smtClean="0"/>
          </a:p>
        </p:txBody>
      </p:sp>
      <p:sp>
        <p:nvSpPr>
          <p:cNvPr id="3" name="Content Placeholder 2"/>
          <p:cNvSpPr>
            <a:spLocks noGrp="1"/>
          </p:cNvSpPr>
          <p:nvPr>
            <p:ph idx="1"/>
          </p:nvPr>
        </p:nvSpPr>
        <p:spPr>
          <a:xfrm>
            <a:off x="457200" y="1295400"/>
            <a:ext cx="8229600" cy="5181600"/>
          </a:xfrm>
        </p:spPr>
        <p:txBody>
          <a:bodyPr/>
          <a:lstStyle/>
          <a:p>
            <a:pPr algn="r" rtl="1"/>
            <a:r>
              <a:rPr lang="ar-EG" dirty="0" smtClean="0"/>
              <a:t>يجب انشاء عمليات للتحكم في التعاقدات والمشتريات لضمان توافقها مع نظام ادارة السلامة</a:t>
            </a:r>
            <a:endParaRPr lang="en-US" dirty="0"/>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944562"/>
          </a:xfrm>
        </p:spPr>
        <p:txBody>
          <a:bodyPr>
            <a:normAutofit/>
          </a:bodyPr>
          <a:lstStyle/>
          <a:p>
            <a:r>
              <a:rPr lang="en-US" sz="4000" b="1" dirty="0" smtClean="0"/>
              <a:t>8.1.4.2 Contractors</a:t>
            </a:r>
            <a:endParaRPr lang="ar-EG" sz="4000" b="1" dirty="0" smtClean="0"/>
          </a:p>
        </p:txBody>
      </p:sp>
      <p:sp>
        <p:nvSpPr>
          <p:cNvPr id="3" name="Content Placeholder 2"/>
          <p:cNvSpPr>
            <a:spLocks noGrp="1"/>
          </p:cNvSpPr>
          <p:nvPr>
            <p:ph idx="1"/>
          </p:nvPr>
        </p:nvSpPr>
        <p:spPr>
          <a:xfrm>
            <a:off x="457200" y="1295400"/>
            <a:ext cx="8229600" cy="5181600"/>
          </a:xfrm>
        </p:spPr>
        <p:txBody>
          <a:bodyPr/>
          <a:lstStyle/>
          <a:p>
            <a:pPr algn="r" rtl="1"/>
            <a:r>
              <a:rPr lang="ar-EG" dirty="0" smtClean="0"/>
              <a:t>يجب تنسيق عمليات التعاقدات والمشتريات مع المقاولين لتحديد المخاطر الناتجة من:</a:t>
            </a:r>
          </a:p>
          <a:p>
            <a:pPr algn="r" rtl="1"/>
            <a:r>
              <a:rPr lang="ar-EG" dirty="0" smtClean="0"/>
              <a:t>الاعمال التي ينفذها المقاول</a:t>
            </a:r>
          </a:p>
          <a:p>
            <a:pPr algn="r" rtl="1"/>
            <a:r>
              <a:rPr lang="ar-EG" dirty="0" smtClean="0"/>
              <a:t>يجب التاكد من ان المقاول يتبع متطلبات نظام ادارة السلامة</a:t>
            </a:r>
          </a:p>
          <a:p>
            <a:pPr algn="r" rtl="1"/>
            <a:r>
              <a:rPr lang="ar-EG" dirty="0" smtClean="0"/>
              <a:t>يجب تحديد وتطبيق معايير السلامة عند اختيار المقاولين وتضمينها في العقود.</a:t>
            </a:r>
            <a:endParaRPr lang="en-US" dirty="0"/>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944562"/>
          </a:xfrm>
        </p:spPr>
        <p:txBody>
          <a:bodyPr>
            <a:normAutofit/>
          </a:bodyPr>
          <a:lstStyle/>
          <a:p>
            <a:r>
              <a:rPr lang="en-US" sz="4000" b="1" dirty="0" smtClean="0"/>
              <a:t>8.1.4.3 Outsourcing</a:t>
            </a:r>
            <a:endParaRPr lang="en-US" sz="4000" dirty="0"/>
          </a:p>
        </p:txBody>
      </p:sp>
      <p:sp>
        <p:nvSpPr>
          <p:cNvPr id="3" name="Content Placeholder 2"/>
          <p:cNvSpPr>
            <a:spLocks noGrp="1"/>
          </p:cNvSpPr>
          <p:nvPr>
            <p:ph idx="1"/>
          </p:nvPr>
        </p:nvSpPr>
        <p:spPr>
          <a:xfrm>
            <a:off x="457200" y="1295400"/>
            <a:ext cx="8229600" cy="5181600"/>
          </a:xfrm>
        </p:spPr>
        <p:txBody>
          <a:bodyPr/>
          <a:lstStyle/>
          <a:p>
            <a:pPr algn="r" rtl="1"/>
            <a:r>
              <a:rPr lang="ar-EG" dirty="0" smtClean="0"/>
              <a:t>تلتزم المؤسسة بالتاكد من ان العمليات الخارجية يتم التحكم فيها</a:t>
            </a:r>
            <a:endParaRPr lang="en-US" dirty="0"/>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944562"/>
          </a:xfrm>
        </p:spPr>
        <p:txBody>
          <a:bodyPr>
            <a:normAutofit fontScale="90000"/>
          </a:bodyPr>
          <a:lstStyle/>
          <a:p>
            <a:r>
              <a:rPr lang="en-US" sz="4000" b="1" dirty="0" smtClean="0"/>
              <a:t>8.2 Emergency preparedness and response</a:t>
            </a:r>
            <a:endParaRPr lang="en-US" sz="4000" b="1" dirty="0"/>
          </a:p>
        </p:txBody>
      </p:sp>
      <p:sp>
        <p:nvSpPr>
          <p:cNvPr id="3" name="Content Placeholder 2"/>
          <p:cNvSpPr>
            <a:spLocks noGrp="1"/>
          </p:cNvSpPr>
          <p:nvPr>
            <p:ph idx="1"/>
          </p:nvPr>
        </p:nvSpPr>
        <p:spPr>
          <a:xfrm>
            <a:off x="457200" y="1295400"/>
            <a:ext cx="8229600" cy="5181600"/>
          </a:xfrm>
        </p:spPr>
        <p:txBody>
          <a:bodyPr>
            <a:normAutofit lnSpcReduction="10000"/>
          </a:bodyPr>
          <a:lstStyle/>
          <a:p>
            <a:pPr algn="r" rtl="1"/>
            <a:r>
              <a:rPr lang="ar-EG" dirty="0" smtClean="0"/>
              <a:t>يجب انشاء عمليات للاستعداد والاستجابة لحالات الطوارئ المحتملة.</a:t>
            </a:r>
          </a:p>
          <a:p>
            <a:pPr algn="r" rtl="1"/>
            <a:r>
              <a:rPr lang="ar-EG" dirty="0" smtClean="0"/>
              <a:t>عمل خطة للطوارئ</a:t>
            </a:r>
          </a:p>
          <a:p>
            <a:pPr algn="r" rtl="1"/>
            <a:r>
              <a:rPr lang="ar-EG" dirty="0" smtClean="0"/>
              <a:t>توفير ادوات الاسعافات الاولية</a:t>
            </a:r>
          </a:p>
          <a:p>
            <a:pPr algn="r" rtl="1"/>
            <a:r>
              <a:rPr lang="ar-EG" dirty="0" smtClean="0"/>
              <a:t>التدريب علي خطة الطوارئ</a:t>
            </a:r>
          </a:p>
          <a:p>
            <a:pPr algn="r" rtl="1"/>
            <a:r>
              <a:rPr lang="ar-EG" dirty="0" smtClean="0"/>
              <a:t>اختبار اجراءات الطوارئ دوريا وتقييم الاداء ومراجعة الخطة عند الحاجة.</a:t>
            </a:r>
          </a:p>
          <a:p>
            <a:pPr algn="r" rtl="1"/>
            <a:r>
              <a:rPr lang="ar-EG" dirty="0" smtClean="0"/>
              <a:t>توصيل المعلومات للعاملين والمقاولين وواجباتهم في حالات الطوارئ</a:t>
            </a:r>
          </a:p>
          <a:p>
            <a:pPr algn="r" rtl="1"/>
            <a:r>
              <a:rPr lang="ar-EG" dirty="0" smtClean="0"/>
              <a:t>الاخذ في الاعتبار احتياجات وقدرات الاطراف المهتمة</a:t>
            </a:r>
          </a:p>
          <a:p>
            <a:pPr algn="r" rtl="1"/>
            <a:endParaRPr lang="en-US" dirty="0"/>
          </a:p>
        </p:txBody>
      </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944562"/>
          </a:xfrm>
        </p:spPr>
        <p:txBody>
          <a:bodyPr>
            <a:normAutofit/>
          </a:bodyPr>
          <a:lstStyle/>
          <a:p>
            <a:r>
              <a:rPr lang="en-US" sz="4000" b="1" dirty="0" smtClean="0"/>
              <a:t>9 Performance evaluation</a:t>
            </a:r>
            <a:endParaRPr lang="en-US" sz="4000" b="1" dirty="0"/>
          </a:p>
        </p:txBody>
      </p:sp>
      <p:sp>
        <p:nvSpPr>
          <p:cNvPr id="3" name="Content Placeholder 2"/>
          <p:cNvSpPr>
            <a:spLocks noGrp="1"/>
          </p:cNvSpPr>
          <p:nvPr>
            <p:ph idx="1"/>
          </p:nvPr>
        </p:nvSpPr>
        <p:spPr>
          <a:xfrm>
            <a:off x="457200" y="1295400"/>
            <a:ext cx="8229600" cy="5181600"/>
          </a:xfrm>
        </p:spPr>
        <p:txBody>
          <a:bodyPr/>
          <a:lstStyle/>
          <a:p>
            <a:pPr>
              <a:buNone/>
            </a:pPr>
            <a:r>
              <a:rPr lang="en-US" b="1" dirty="0" smtClean="0"/>
              <a:t>9.1. Monitoring, Measurement, Analysis and Performance Evaluation</a:t>
            </a:r>
          </a:p>
          <a:p>
            <a:pPr>
              <a:buNone/>
            </a:pPr>
            <a:r>
              <a:rPr lang="en-US" dirty="0" smtClean="0"/>
              <a:t>9.1.1. General</a:t>
            </a:r>
          </a:p>
          <a:p>
            <a:pPr>
              <a:buNone/>
            </a:pPr>
            <a:r>
              <a:rPr lang="en-US" dirty="0" smtClean="0"/>
              <a:t>9.1.2 Evaluation of Compliance</a:t>
            </a:r>
          </a:p>
          <a:p>
            <a:pPr>
              <a:buNone/>
            </a:pPr>
            <a:r>
              <a:rPr lang="en-US" b="1" dirty="0" smtClean="0"/>
              <a:t>9.2. Internal Audit</a:t>
            </a:r>
          </a:p>
          <a:p>
            <a:pPr>
              <a:buNone/>
            </a:pPr>
            <a:r>
              <a:rPr lang="en-US" dirty="0" smtClean="0"/>
              <a:t>9.2.1 General</a:t>
            </a:r>
          </a:p>
          <a:p>
            <a:pPr>
              <a:buNone/>
            </a:pPr>
            <a:r>
              <a:rPr lang="en-US" dirty="0" smtClean="0"/>
              <a:t>9.2.2. Internal Audit Program</a:t>
            </a:r>
          </a:p>
          <a:p>
            <a:pPr>
              <a:buNone/>
            </a:pPr>
            <a:r>
              <a:rPr lang="en-US" b="1" dirty="0" smtClean="0"/>
              <a:t>9.3 Management review</a:t>
            </a:r>
            <a:endParaRPr lang="ar-EG" b="1" dirty="0" smtClean="0"/>
          </a:p>
          <a:p>
            <a:pPr algn="r" rtl="1"/>
            <a:endParaRPr lang="en-US" dirty="0"/>
          </a:p>
        </p:txBody>
      </p:sp>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1935162"/>
          </a:xfrm>
        </p:spPr>
        <p:txBody>
          <a:bodyPr>
            <a:normAutofit/>
          </a:bodyPr>
          <a:lstStyle/>
          <a:p>
            <a:pPr algn="l"/>
            <a:r>
              <a:rPr lang="en-US" sz="4000" b="1" dirty="0" smtClean="0"/>
              <a:t>9.1 Monitoring, measurement, analysis and performance </a:t>
            </a:r>
            <a:r>
              <a:rPr lang="en-US" sz="4000" b="1" dirty="0" smtClean="0"/>
              <a:t>evaluation</a:t>
            </a:r>
            <a:br>
              <a:rPr lang="en-US" sz="4000" b="1" dirty="0" smtClean="0"/>
            </a:br>
            <a:endParaRPr lang="en-US" sz="4000" b="1" dirty="0"/>
          </a:p>
        </p:txBody>
      </p:sp>
      <p:sp>
        <p:nvSpPr>
          <p:cNvPr id="3" name="Content Placeholder 2"/>
          <p:cNvSpPr>
            <a:spLocks noGrp="1"/>
          </p:cNvSpPr>
          <p:nvPr>
            <p:ph idx="1"/>
          </p:nvPr>
        </p:nvSpPr>
        <p:spPr>
          <a:xfrm>
            <a:off x="457200" y="2438400"/>
            <a:ext cx="8229600" cy="4038600"/>
          </a:xfrm>
        </p:spPr>
        <p:txBody>
          <a:bodyPr/>
          <a:lstStyle/>
          <a:p>
            <a:pPr algn="r" rtl="1"/>
            <a:endParaRPr lang="en-US" dirty="0"/>
          </a:p>
        </p:txBody>
      </p:sp>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944562"/>
          </a:xfrm>
        </p:spPr>
        <p:txBody>
          <a:bodyPr>
            <a:normAutofit/>
          </a:bodyPr>
          <a:lstStyle/>
          <a:p>
            <a:r>
              <a:rPr lang="en-US" sz="4000" b="1" dirty="0" smtClean="0"/>
              <a:t>9.1.1 General</a:t>
            </a:r>
            <a:endParaRPr lang="en-US" sz="4000" b="1" dirty="0"/>
          </a:p>
        </p:txBody>
      </p:sp>
      <p:sp>
        <p:nvSpPr>
          <p:cNvPr id="3" name="Content Placeholder 2"/>
          <p:cNvSpPr>
            <a:spLocks noGrp="1"/>
          </p:cNvSpPr>
          <p:nvPr>
            <p:ph idx="1"/>
          </p:nvPr>
        </p:nvSpPr>
        <p:spPr>
          <a:xfrm>
            <a:off x="457200" y="1295400"/>
            <a:ext cx="8229600" cy="5181600"/>
          </a:xfrm>
        </p:spPr>
        <p:txBody>
          <a:bodyPr/>
          <a:lstStyle/>
          <a:p>
            <a:pPr algn="r" rtl="1"/>
            <a:r>
              <a:rPr lang="ar-EG" b="1" dirty="0" smtClean="0"/>
              <a:t>تحديد ما المطلوب مراقبتة وقياسة وتشمل:</a:t>
            </a:r>
          </a:p>
          <a:p>
            <a:pPr algn="r" rtl="1"/>
            <a:r>
              <a:rPr lang="ar-EG" dirty="0" smtClean="0"/>
              <a:t>مدي التوافق مع القوانين</a:t>
            </a:r>
          </a:p>
          <a:p>
            <a:pPr algn="r" rtl="1"/>
            <a:r>
              <a:rPr lang="ar-EG" dirty="0" smtClean="0"/>
              <a:t>العمليات المنفذة لتحقيق الاهداف</a:t>
            </a:r>
          </a:p>
          <a:p>
            <a:pPr algn="r" rtl="1"/>
            <a:r>
              <a:rPr lang="ar-EG" dirty="0" smtClean="0"/>
              <a:t>فاعلية اجراءات التحكم</a:t>
            </a:r>
          </a:p>
          <a:p>
            <a:pPr algn="r" rtl="1"/>
            <a:r>
              <a:rPr lang="ar-EG" dirty="0" smtClean="0"/>
              <a:t>عمليات تحديد المخاطر والفرص</a:t>
            </a:r>
            <a:endParaRPr lang="en-US" dirty="0" smtClean="0"/>
          </a:p>
          <a:p>
            <a:pPr algn="r" rtl="1"/>
            <a:r>
              <a:rPr lang="ar-EG" dirty="0" smtClean="0"/>
              <a:t>تحديد طريقة المراقبة والقياس والتحليل والتقييم للتحقق من النتائج.</a:t>
            </a:r>
          </a:p>
          <a:p>
            <a:pPr algn="r" rtl="1"/>
            <a:r>
              <a:rPr lang="ar-EG" dirty="0" smtClean="0"/>
              <a:t>المعايير التي يتم المقارنة بها</a:t>
            </a:r>
          </a:p>
          <a:p>
            <a:pPr algn="r" rtl="1"/>
            <a:r>
              <a:rPr lang="ar-EG" dirty="0" smtClean="0"/>
              <a:t>توقيتات المراقبة والقياس وتوقيت التحليل والتقييم للنتائج</a:t>
            </a:r>
            <a:endParaRPr lang="en-US" dirty="0"/>
          </a:p>
        </p:txBody>
      </p:sp>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944562"/>
          </a:xfrm>
        </p:spPr>
        <p:txBody>
          <a:bodyPr>
            <a:normAutofit/>
          </a:bodyPr>
          <a:lstStyle/>
          <a:p>
            <a:r>
              <a:rPr lang="en-US" sz="4000" b="1" dirty="0" smtClean="0"/>
              <a:t>9.1.1 General</a:t>
            </a:r>
            <a:endParaRPr lang="en-US" sz="4000" b="1" dirty="0"/>
          </a:p>
        </p:txBody>
      </p:sp>
      <p:sp>
        <p:nvSpPr>
          <p:cNvPr id="3" name="Content Placeholder 2"/>
          <p:cNvSpPr>
            <a:spLocks noGrp="1"/>
          </p:cNvSpPr>
          <p:nvPr>
            <p:ph idx="1"/>
          </p:nvPr>
        </p:nvSpPr>
        <p:spPr>
          <a:xfrm>
            <a:off x="457200" y="1295400"/>
            <a:ext cx="8229600" cy="5181600"/>
          </a:xfrm>
        </p:spPr>
        <p:txBody>
          <a:bodyPr/>
          <a:lstStyle/>
          <a:p>
            <a:pPr algn="r" rtl="1"/>
            <a:r>
              <a:rPr lang="ar-EG" dirty="0" smtClean="0"/>
              <a:t>التاكد من ان معدات القياس تم معايرتها وصيانتها وانها صالحة للعمل ويتم المحافظة عليها.</a:t>
            </a:r>
          </a:p>
          <a:p>
            <a:pPr algn="r" rtl="1"/>
            <a:endParaRPr lang="en-US" dirty="0"/>
          </a:p>
        </p:txBody>
      </p:sp>
    </p:spTree>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944562"/>
          </a:xfrm>
        </p:spPr>
        <p:txBody>
          <a:bodyPr>
            <a:normAutofit/>
          </a:bodyPr>
          <a:lstStyle/>
          <a:p>
            <a:r>
              <a:rPr lang="en-US" sz="4000" b="1" dirty="0" smtClean="0"/>
              <a:t>9.1.2 Evaluation of Compliance</a:t>
            </a:r>
          </a:p>
        </p:txBody>
      </p:sp>
      <p:sp>
        <p:nvSpPr>
          <p:cNvPr id="3" name="Content Placeholder 2"/>
          <p:cNvSpPr>
            <a:spLocks noGrp="1"/>
          </p:cNvSpPr>
          <p:nvPr>
            <p:ph idx="1"/>
          </p:nvPr>
        </p:nvSpPr>
        <p:spPr>
          <a:xfrm>
            <a:off x="457200" y="1295400"/>
            <a:ext cx="8229600" cy="5181600"/>
          </a:xfrm>
        </p:spPr>
        <p:txBody>
          <a:bodyPr/>
          <a:lstStyle/>
          <a:p>
            <a:pPr algn="r" rtl="1"/>
            <a:r>
              <a:rPr lang="ar-EG" dirty="0" smtClean="0"/>
              <a:t>تقييم التوافق مع القوانين واتخاذ الاجراءات اللازمة.</a:t>
            </a:r>
          </a:p>
          <a:p>
            <a:pPr algn="r" rtl="1"/>
            <a:r>
              <a:rPr lang="ar-EG" dirty="0" smtClean="0"/>
              <a:t>تحديد طريقة ومواعيد التقييم</a:t>
            </a:r>
          </a:p>
          <a:p>
            <a:pPr algn="r" rtl="1"/>
            <a:endParaRPr lang="en-US" dirty="0"/>
          </a:p>
        </p:txBody>
      </p:sp>
    </p:spTree>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1325562"/>
          </a:xfrm>
        </p:spPr>
        <p:txBody>
          <a:bodyPr>
            <a:normAutofit/>
          </a:bodyPr>
          <a:lstStyle/>
          <a:p>
            <a:r>
              <a:rPr lang="en-US" sz="4000" b="1" dirty="0" smtClean="0"/>
              <a:t>9.2. Internal </a:t>
            </a:r>
            <a:r>
              <a:rPr lang="en-US" sz="4000" b="1" dirty="0" smtClean="0"/>
              <a:t>Audit</a:t>
            </a:r>
            <a:r>
              <a:rPr lang="ar-EG" sz="4000" b="1" dirty="0" smtClean="0"/>
              <a:t/>
            </a:r>
            <a:br>
              <a:rPr lang="ar-EG" sz="4000" b="1" dirty="0" smtClean="0"/>
            </a:br>
            <a:r>
              <a:rPr lang="en-US" sz="4000" b="1" dirty="0" smtClean="0"/>
              <a:t>9.2.1 General</a:t>
            </a:r>
            <a:endParaRPr lang="en-US" sz="4000" b="1" dirty="0" smtClean="0"/>
          </a:p>
        </p:txBody>
      </p:sp>
      <p:sp>
        <p:nvSpPr>
          <p:cNvPr id="3" name="Content Placeholder 2"/>
          <p:cNvSpPr>
            <a:spLocks noGrp="1"/>
          </p:cNvSpPr>
          <p:nvPr>
            <p:ph idx="1"/>
          </p:nvPr>
        </p:nvSpPr>
        <p:spPr>
          <a:xfrm>
            <a:off x="457200" y="1676400"/>
            <a:ext cx="8229600" cy="4800600"/>
          </a:xfrm>
        </p:spPr>
        <p:txBody>
          <a:bodyPr>
            <a:normAutofit/>
          </a:bodyPr>
          <a:lstStyle/>
          <a:p>
            <a:pPr algn="r" rtl="1"/>
            <a:r>
              <a:rPr lang="ar-EG" dirty="0" smtClean="0"/>
              <a:t>يتم تنفيذ المراجعات الداخلية علي فترات مخططة لتوفير معلومات عن مدي توافق نظام ادارة السلامة مع:</a:t>
            </a:r>
          </a:p>
          <a:p>
            <a:pPr algn="r" rtl="1"/>
            <a:r>
              <a:rPr lang="ar-EG" dirty="0" smtClean="0"/>
              <a:t>متطلبات الايزو</a:t>
            </a:r>
          </a:p>
          <a:p>
            <a:pPr algn="r" rtl="1"/>
            <a:r>
              <a:rPr lang="ar-EG" dirty="0" smtClean="0"/>
              <a:t>متطلبات المؤسسة بما فيها السياسة والاهداف.</a:t>
            </a:r>
          </a:p>
          <a:p>
            <a:pPr algn="r" rtl="1"/>
            <a:r>
              <a:rPr lang="ar-EG" dirty="0" smtClean="0"/>
              <a:t>وتقييم مدي فاعلية نظام ادارة السلامة</a:t>
            </a:r>
          </a:p>
        </p:txBody>
      </p:sp>
    </p:spTree>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944562"/>
          </a:xfrm>
        </p:spPr>
        <p:txBody>
          <a:bodyPr>
            <a:normAutofit/>
          </a:bodyPr>
          <a:lstStyle/>
          <a:p>
            <a:r>
              <a:rPr lang="en-US" sz="4000" b="1" dirty="0" smtClean="0"/>
              <a:t>9.2.2 Internal audit </a:t>
            </a:r>
            <a:r>
              <a:rPr lang="en-US" sz="4000" b="1" dirty="0" smtClean="0"/>
              <a:t>program</a:t>
            </a:r>
            <a:endParaRPr lang="en-US" sz="4000" b="1" dirty="0"/>
          </a:p>
        </p:txBody>
      </p:sp>
      <p:sp>
        <p:nvSpPr>
          <p:cNvPr id="3" name="Content Placeholder 2"/>
          <p:cNvSpPr>
            <a:spLocks noGrp="1"/>
          </p:cNvSpPr>
          <p:nvPr>
            <p:ph idx="1"/>
          </p:nvPr>
        </p:nvSpPr>
        <p:spPr>
          <a:xfrm>
            <a:off x="457200" y="1295400"/>
            <a:ext cx="8229600" cy="5181600"/>
          </a:xfrm>
        </p:spPr>
        <p:txBody>
          <a:bodyPr>
            <a:normAutofit lnSpcReduction="10000"/>
          </a:bodyPr>
          <a:lstStyle/>
          <a:p>
            <a:pPr algn="r" rtl="1"/>
            <a:r>
              <a:rPr lang="ar-EG" dirty="0" smtClean="0"/>
              <a:t>يتم عمل برنامج للمراجعات الداخلية </a:t>
            </a:r>
            <a:r>
              <a:rPr lang="ar-EG" dirty="0" smtClean="0"/>
              <a:t>يشمل (التوقيتات </a:t>
            </a:r>
            <a:r>
              <a:rPr lang="ar-EG" dirty="0" smtClean="0"/>
              <a:t>– الطريقة – المسئوليات – كيفية مشاركة تقرير </a:t>
            </a:r>
            <a:r>
              <a:rPr lang="ar-EG" dirty="0" smtClean="0"/>
              <a:t>النتائج).</a:t>
            </a:r>
            <a:endParaRPr lang="ar-EG" dirty="0" smtClean="0"/>
          </a:p>
          <a:p>
            <a:pPr algn="r" rtl="1"/>
            <a:r>
              <a:rPr lang="ar-EG" dirty="0" smtClean="0"/>
              <a:t>الاخذ في الاعتبار اهمية العمليات التي يتم المراجعة عليها ونتائج المراجعات السابقة.</a:t>
            </a:r>
            <a:endParaRPr lang="en-US" dirty="0" smtClean="0"/>
          </a:p>
          <a:p>
            <a:pPr algn="r" rtl="1"/>
            <a:r>
              <a:rPr lang="ar-EG" dirty="0" smtClean="0"/>
              <a:t>تحديد معايير المراجعة ومجال المراجعة و</a:t>
            </a:r>
            <a:r>
              <a:rPr lang="ar-EG" dirty="0" smtClean="0"/>
              <a:t>اختيار المراجعين وتنفيذ المراجعة</a:t>
            </a:r>
          </a:p>
          <a:p>
            <a:pPr algn="r" rtl="1"/>
            <a:r>
              <a:rPr lang="ar-EG" dirty="0" smtClean="0"/>
              <a:t>توصيل نتائج المراجعات الداخلية للمديرن المسئولين والعاملين</a:t>
            </a:r>
          </a:p>
          <a:p>
            <a:pPr algn="r" rtl="1"/>
            <a:r>
              <a:rPr lang="ar-EG" dirty="0" smtClean="0"/>
              <a:t>اتخاذ اجراءات تحديد حالات عدم المطابقة وتحسين نظام ادارة السلامة</a:t>
            </a:r>
            <a:endParaRPr lang="en-US" dirty="0"/>
          </a:p>
        </p:txBody>
      </p:sp>
    </p:spTree>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944562"/>
          </a:xfrm>
        </p:spPr>
        <p:txBody>
          <a:bodyPr>
            <a:normAutofit/>
          </a:bodyPr>
          <a:lstStyle/>
          <a:p>
            <a:r>
              <a:rPr lang="en-US" sz="4000" b="1" dirty="0" smtClean="0"/>
              <a:t>9.3 Management review</a:t>
            </a:r>
            <a:endParaRPr lang="en-US" sz="4000" b="1" dirty="0"/>
          </a:p>
        </p:txBody>
      </p:sp>
      <p:sp>
        <p:nvSpPr>
          <p:cNvPr id="3" name="Content Placeholder 2"/>
          <p:cNvSpPr>
            <a:spLocks noGrp="1"/>
          </p:cNvSpPr>
          <p:nvPr>
            <p:ph idx="1"/>
          </p:nvPr>
        </p:nvSpPr>
        <p:spPr>
          <a:xfrm>
            <a:off x="457200" y="1295400"/>
            <a:ext cx="8229600" cy="5181600"/>
          </a:xfrm>
        </p:spPr>
        <p:txBody>
          <a:bodyPr/>
          <a:lstStyle/>
          <a:p>
            <a:pPr algn="r" rtl="1"/>
            <a:r>
              <a:rPr lang="ar-EG" dirty="0" smtClean="0"/>
              <a:t>يجب ان تقوم الادارة العليا بمراجعة نظام ادارة السلامة علي فترات مخططة للتأكد من استمرارية ملائمتة وفاعليتة.</a:t>
            </a:r>
          </a:p>
          <a:p>
            <a:pPr algn="r" rtl="1"/>
            <a:r>
              <a:rPr lang="ar-EG" u="sng" dirty="0" smtClean="0"/>
              <a:t>مدخلات مراجعة الادارة:</a:t>
            </a:r>
          </a:p>
          <a:p>
            <a:pPr algn="r" rtl="1"/>
            <a:r>
              <a:rPr lang="ar-EG" dirty="0" smtClean="0"/>
              <a:t>نتائج مراجعات الادارة السابقة</a:t>
            </a:r>
          </a:p>
          <a:p>
            <a:pPr algn="r" rtl="1"/>
            <a:r>
              <a:rPr lang="ar-EG" dirty="0" smtClean="0"/>
              <a:t>التغيرات في المسائل الداخلية والخارجية </a:t>
            </a:r>
          </a:p>
          <a:p>
            <a:pPr algn="r" rtl="1"/>
            <a:r>
              <a:rPr lang="ar-EG" dirty="0" smtClean="0"/>
              <a:t>احتياجات وتوقعات الاطراف المهتمة </a:t>
            </a:r>
          </a:p>
          <a:p>
            <a:pPr algn="r" rtl="1"/>
            <a:r>
              <a:rPr lang="ar-EG" dirty="0" smtClean="0"/>
              <a:t>المتطلبات القانونية </a:t>
            </a:r>
          </a:p>
          <a:p>
            <a:pPr algn="r" rtl="1"/>
            <a:r>
              <a:rPr lang="ar-EG" dirty="0" smtClean="0"/>
              <a:t>المخاطر والفرص.</a:t>
            </a:r>
            <a:endParaRPr lang="en-US" dirty="0"/>
          </a:p>
        </p:txBody>
      </p:sp>
    </p:spTree>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944562"/>
          </a:xfrm>
        </p:spPr>
        <p:txBody>
          <a:bodyPr>
            <a:normAutofit/>
          </a:bodyPr>
          <a:lstStyle/>
          <a:p>
            <a:r>
              <a:rPr lang="en-US" sz="4000" b="1" dirty="0" smtClean="0"/>
              <a:t>9.3 Management review</a:t>
            </a:r>
            <a:endParaRPr lang="en-US" sz="4000" b="1" dirty="0"/>
          </a:p>
        </p:txBody>
      </p:sp>
      <p:sp>
        <p:nvSpPr>
          <p:cNvPr id="3" name="Content Placeholder 2"/>
          <p:cNvSpPr>
            <a:spLocks noGrp="1"/>
          </p:cNvSpPr>
          <p:nvPr>
            <p:ph idx="1"/>
          </p:nvPr>
        </p:nvSpPr>
        <p:spPr>
          <a:xfrm>
            <a:off x="457200" y="1295400"/>
            <a:ext cx="8229600" cy="5181600"/>
          </a:xfrm>
        </p:spPr>
        <p:txBody>
          <a:bodyPr>
            <a:normAutofit/>
          </a:bodyPr>
          <a:lstStyle/>
          <a:p>
            <a:pPr algn="r" rtl="1"/>
            <a:r>
              <a:rPr lang="ar-EG" dirty="0" smtClean="0"/>
              <a:t>مدي تحقق اهداف وسياسة السلامة</a:t>
            </a:r>
          </a:p>
          <a:p>
            <a:pPr algn="r" rtl="1"/>
            <a:r>
              <a:rPr lang="ar-EG" u="sng" dirty="0" smtClean="0"/>
              <a:t>معلومات عن اداء برنامج السلامة مثل:</a:t>
            </a:r>
          </a:p>
          <a:p>
            <a:pPr algn="r" rtl="1"/>
            <a:r>
              <a:rPr lang="ar-EG" dirty="0" smtClean="0"/>
              <a:t>الحوادث وحالات عدم المطابقة</a:t>
            </a:r>
          </a:p>
          <a:p>
            <a:pPr algn="r" rtl="1"/>
            <a:r>
              <a:rPr lang="ar-EG" dirty="0" smtClean="0"/>
              <a:t>الاجراءات التصحيحية والتحسين المستمر.</a:t>
            </a:r>
          </a:p>
          <a:p>
            <a:pPr algn="r" rtl="1"/>
            <a:r>
              <a:rPr lang="ar-EG" dirty="0" smtClean="0"/>
              <a:t>نتائج المراقبة والقياس و </a:t>
            </a:r>
            <a:r>
              <a:rPr lang="ar-EG" dirty="0" smtClean="0"/>
              <a:t>نتائج تقييم التوافق مع القوانين</a:t>
            </a:r>
          </a:p>
          <a:p>
            <a:pPr algn="r" rtl="1"/>
            <a:r>
              <a:rPr lang="ar-EG" dirty="0" smtClean="0"/>
              <a:t>نتائج المراجعات الداخلية و</a:t>
            </a:r>
            <a:r>
              <a:rPr lang="ar-EG" dirty="0" smtClean="0"/>
              <a:t>الاستشارات مع العاملين</a:t>
            </a:r>
          </a:p>
          <a:p>
            <a:pPr algn="r" rtl="1"/>
            <a:r>
              <a:rPr lang="ar-EG" dirty="0" smtClean="0"/>
              <a:t>المخاطر والفرص</a:t>
            </a:r>
          </a:p>
          <a:p>
            <a:pPr algn="r" rtl="1"/>
            <a:r>
              <a:rPr lang="ar-EG" dirty="0" smtClean="0"/>
              <a:t>مدي ملائمة الموارد المتاحة – الاتصالات مع الاطراف المهتمة وفرص التحسين المستمر</a:t>
            </a:r>
            <a:endParaRPr lang="en-US" dirty="0"/>
          </a:p>
        </p:txBody>
      </p:sp>
    </p:spTree>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944562"/>
          </a:xfrm>
        </p:spPr>
        <p:txBody>
          <a:bodyPr>
            <a:normAutofit/>
          </a:bodyPr>
          <a:lstStyle/>
          <a:p>
            <a:r>
              <a:rPr lang="en-US" sz="4000" b="1" dirty="0" smtClean="0"/>
              <a:t>9.3 Management review</a:t>
            </a:r>
            <a:endParaRPr lang="en-US" sz="4000" b="1" dirty="0"/>
          </a:p>
        </p:txBody>
      </p:sp>
      <p:sp>
        <p:nvSpPr>
          <p:cNvPr id="3" name="Content Placeholder 2"/>
          <p:cNvSpPr>
            <a:spLocks noGrp="1"/>
          </p:cNvSpPr>
          <p:nvPr>
            <p:ph idx="1"/>
          </p:nvPr>
        </p:nvSpPr>
        <p:spPr>
          <a:xfrm>
            <a:off x="457200" y="1295400"/>
            <a:ext cx="8229600" cy="5181600"/>
          </a:xfrm>
        </p:spPr>
        <p:txBody>
          <a:bodyPr/>
          <a:lstStyle/>
          <a:p>
            <a:pPr algn="r" rtl="1"/>
            <a:r>
              <a:rPr lang="ar-EG" dirty="0" smtClean="0"/>
              <a:t>مخرجات مراجعة الادارة:</a:t>
            </a:r>
          </a:p>
          <a:p>
            <a:pPr algn="r" rtl="1"/>
            <a:r>
              <a:rPr lang="ar-EG" dirty="0" smtClean="0"/>
              <a:t>مدي فاعلية برنامج ادارة السلامة في تحقيق النتائج المطلوبة.</a:t>
            </a:r>
          </a:p>
          <a:p>
            <a:pPr algn="r" rtl="1"/>
            <a:r>
              <a:rPr lang="ar-EG" dirty="0" smtClean="0"/>
              <a:t>فرص التحسين المستمر.</a:t>
            </a:r>
          </a:p>
          <a:p>
            <a:pPr algn="r" rtl="1"/>
            <a:r>
              <a:rPr lang="ar-EG" dirty="0" smtClean="0"/>
              <a:t>مدي الحاجة لاجراء تغييرات في نظام ادارة السلامة.</a:t>
            </a:r>
          </a:p>
          <a:p>
            <a:pPr algn="r" rtl="1"/>
            <a:r>
              <a:rPr lang="ar-EG" dirty="0" smtClean="0"/>
              <a:t>الموارد المطلوبة.</a:t>
            </a:r>
          </a:p>
          <a:p>
            <a:pPr algn="r" rtl="1"/>
            <a:r>
              <a:rPr lang="ar-EG" dirty="0" smtClean="0"/>
              <a:t>الاجراءات المطلوب تنفيذها.</a:t>
            </a:r>
          </a:p>
          <a:p>
            <a:pPr algn="r" rtl="1"/>
            <a:r>
              <a:rPr lang="ar-EG" dirty="0" smtClean="0"/>
              <a:t>يلزم ايصال نتائج مراجعات الادارة للعاملين</a:t>
            </a:r>
            <a:endParaRPr lang="en-US" dirty="0"/>
          </a:p>
        </p:txBody>
      </p:sp>
    </p:spTree>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1173162"/>
          </a:xfrm>
        </p:spPr>
        <p:txBody>
          <a:bodyPr>
            <a:normAutofit fontScale="90000"/>
          </a:bodyPr>
          <a:lstStyle/>
          <a:p>
            <a:r>
              <a:rPr lang="en-US" sz="4000" b="1" dirty="0" smtClean="0"/>
              <a:t>10 </a:t>
            </a:r>
            <a:r>
              <a:rPr lang="en-US" sz="4000" b="1" dirty="0" smtClean="0"/>
              <a:t>Improvement</a:t>
            </a:r>
            <a:r>
              <a:rPr lang="ar-EG" sz="4000" b="1" dirty="0" smtClean="0"/>
              <a:t/>
            </a:r>
            <a:br>
              <a:rPr lang="ar-EG" sz="4000" b="1" dirty="0" smtClean="0"/>
            </a:br>
            <a:r>
              <a:rPr lang="en-US" sz="3600" b="1" dirty="0" smtClean="0"/>
              <a:t>10.1 General</a:t>
            </a:r>
            <a:endParaRPr lang="en-US" sz="4000" b="1" dirty="0"/>
          </a:p>
        </p:txBody>
      </p:sp>
      <p:sp>
        <p:nvSpPr>
          <p:cNvPr id="3" name="Content Placeholder 2"/>
          <p:cNvSpPr>
            <a:spLocks noGrp="1"/>
          </p:cNvSpPr>
          <p:nvPr>
            <p:ph idx="1"/>
          </p:nvPr>
        </p:nvSpPr>
        <p:spPr>
          <a:xfrm>
            <a:off x="457200" y="1524000"/>
            <a:ext cx="8229600" cy="4953000"/>
          </a:xfrm>
        </p:spPr>
        <p:txBody>
          <a:bodyPr/>
          <a:lstStyle/>
          <a:p>
            <a:pPr algn="r" rtl="1"/>
            <a:r>
              <a:rPr lang="ar-EG" dirty="0" smtClean="0"/>
              <a:t>يجب علي المؤسسة تحديد فرص التحسين واتخاذ الاجراءات اللازمة للحصول علي النتائج المطلوبة لنظام ادارة السلامة.</a:t>
            </a:r>
            <a:endParaRPr lang="en-US" dirty="0"/>
          </a:p>
        </p:txBody>
      </p:sp>
    </p:spTree>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944562"/>
          </a:xfrm>
        </p:spPr>
        <p:txBody>
          <a:bodyPr>
            <a:normAutofit fontScale="90000"/>
          </a:bodyPr>
          <a:lstStyle/>
          <a:p>
            <a:r>
              <a:rPr lang="en-US" sz="4000" b="1" dirty="0" smtClean="0"/>
              <a:t>10.2 Incident, nonconformity and corrective action</a:t>
            </a:r>
            <a:endParaRPr lang="en-US" sz="4000" b="1" dirty="0"/>
          </a:p>
        </p:txBody>
      </p:sp>
      <p:sp>
        <p:nvSpPr>
          <p:cNvPr id="3" name="Content Placeholder 2"/>
          <p:cNvSpPr>
            <a:spLocks noGrp="1"/>
          </p:cNvSpPr>
          <p:nvPr>
            <p:ph idx="1"/>
          </p:nvPr>
        </p:nvSpPr>
        <p:spPr>
          <a:xfrm>
            <a:off x="457200" y="1295400"/>
            <a:ext cx="8229600" cy="5181600"/>
          </a:xfrm>
        </p:spPr>
        <p:txBody>
          <a:bodyPr>
            <a:normAutofit lnSpcReduction="10000"/>
          </a:bodyPr>
          <a:lstStyle/>
          <a:p>
            <a:pPr algn="r" rtl="1"/>
            <a:r>
              <a:rPr lang="ar-EG" dirty="0" smtClean="0"/>
              <a:t>انشاء نظام للابلاغ عن الحوادث واتخاذ الاجراءات اللازمة لتحديد وادارة الحوادث وحالات عدم المطابقة.</a:t>
            </a:r>
          </a:p>
          <a:p>
            <a:pPr algn="r" rtl="1"/>
            <a:r>
              <a:rPr lang="ar-EG" dirty="0" smtClean="0"/>
              <a:t>عند وقوع حادث او حالة عدم مطابقة يجب التعامل معها في الوقت المناسب والتحكم فيها وتصحيحها والتعامل مع عواقبها.</a:t>
            </a:r>
          </a:p>
          <a:p>
            <a:pPr algn="r" rtl="1"/>
            <a:r>
              <a:rPr lang="ar-EG" dirty="0" smtClean="0"/>
              <a:t>تقييم الحاجة لاتخاذ اجراءات تصحيحية بمشاركة العاملين لازالة الاسباب الجذرية للحادث او حالة عدم المطابقة لمنع تكرارها عن طريق:</a:t>
            </a:r>
          </a:p>
          <a:p>
            <a:pPr algn="r" rtl="1"/>
            <a:r>
              <a:rPr lang="ar-EG" dirty="0" smtClean="0"/>
              <a:t>التحقيق في الحادث او مراجعة حالة عدم المطابقة وتحديد اسبابها وتحديد امكانية وقوع حالات مماثلة اخري.</a:t>
            </a:r>
            <a:endParaRPr lang="en-US" dirty="0"/>
          </a:p>
        </p:txBody>
      </p:sp>
    </p:spTree>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944562"/>
          </a:xfrm>
        </p:spPr>
        <p:txBody>
          <a:bodyPr>
            <a:normAutofit fontScale="90000"/>
          </a:bodyPr>
          <a:lstStyle/>
          <a:p>
            <a:r>
              <a:rPr lang="en-US" sz="4000" b="1" dirty="0" smtClean="0"/>
              <a:t>10.2 Incident, nonconformity and corrective action</a:t>
            </a:r>
            <a:endParaRPr lang="en-US" sz="4000" b="1" dirty="0"/>
          </a:p>
        </p:txBody>
      </p:sp>
      <p:sp>
        <p:nvSpPr>
          <p:cNvPr id="3" name="Content Placeholder 2"/>
          <p:cNvSpPr>
            <a:spLocks noGrp="1"/>
          </p:cNvSpPr>
          <p:nvPr>
            <p:ph idx="1"/>
          </p:nvPr>
        </p:nvSpPr>
        <p:spPr>
          <a:xfrm>
            <a:off x="457200" y="1295400"/>
            <a:ext cx="8229600" cy="5181600"/>
          </a:xfrm>
        </p:spPr>
        <p:txBody>
          <a:bodyPr/>
          <a:lstStyle/>
          <a:p>
            <a:pPr algn="r" rtl="1"/>
            <a:r>
              <a:rPr lang="ar-EG" dirty="0" smtClean="0"/>
              <a:t>مراجعة تقييم المخاطر والفرص الحالي</a:t>
            </a:r>
          </a:p>
          <a:p>
            <a:pPr algn="r" rtl="1"/>
            <a:r>
              <a:rPr lang="ar-EG" dirty="0" smtClean="0"/>
              <a:t>اتخاذ الاجراءات اللازمة طبقا للتسلسل الهرمي لتقييم المخاطر وطبقا لادارة التغييرات.</a:t>
            </a:r>
          </a:p>
          <a:p>
            <a:pPr algn="r" rtl="1"/>
            <a:r>
              <a:rPr lang="ar-EG" dirty="0" smtClean="0"/>
              <a:t>اعادة تقييم المخاطر قبل تنفيذ الاجراءات الجديدة</a:t>
            </a:r>
          </a:p>
          <a:p>
            <a:pPr algn="r" rtl="1"/>
            <a:r>
              <a:rPr lang="ar-EG" dirty="0" smtClean="0"/>
              <a:t>مراجعة فاعلية الاجراءات المتحذة والتصحيحية.</a:t>
            </a:r>
          </a:p>
          <a:p>
            <a:pPr algn="r" rtl="1"/>
            <a:r>
              <a:rPr lang="ar-EG" dirty="0" smtClean="0"/>
              <a:t>اجراء التغييرات اللازمة لنظام ادارة السلامة.</a:t>
            </a:r>
          </a:p>
          <a:p>
            <a:pPr algn="r" rtl="1"/>
            <a:endParaRPr lang="en-US" dirty="0"/>
          </a:p>
        </p:txBody>
      </p:sp>
    </p:spTree>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944562"/>
          </a:xfrm>
        </p:spPr>
        <p:txBody>
          <a:bodyPr>
            <a:normAutofit fontScale="90000"/>
          </a:bodyPr>
          <a:lstStyle/>
          <a:p>
            <a:r>
              <a:rPr lang="en-US" sz="4000" b="1" dirty="0" smtClean="0"/>
              <a:t>10.2 Incident, nonconformity and corrective action</a:t>
            </a:r>
            <a:endParaRPr lang="en-US" sz="4000" b="1" dirty="0"/>
          </a:p>
        </p:txBody>
      </p:sp>
      <p:sp>
        <p:nvSpPr>
          <p:cNvPr id="3" name="Content Placeholder 2"/>
          <p:cNvSpPr>
            <a:spLocks noGrp="1"/>
          </p:cNvSpPr>
          <p:nvPr>
            <p:ph idx="1"/>
          </p:nvPr>
        </p:nvSpPr>
        <p:spPr>
          <a:xfrm>
            <a:off x="457200" y="1295400"/>
            <a:ext cx="8229600" cy="5181600"/>
          </a:xfrm>
        </p:spPr>
        <p:txBody>
          <a:bodyPr/>
          <a:lstStyle/>
          <a:p>
            <a:pPr algn="r" rtl="1"/>
            <a:r>
              <a:rPr lang="ar-EG" dirty="0" smtClean="0"/>
              <a:t>الاجراءات التصحيحية يجب ان تكون مناسبة لتاثير الحادث او حالة عدم المطابقة</a:t>
            </a:r>
            <a:endParaRPr lang="en-US" dirty="0"/>
          </a:p>
        </p:txBody>
      </p:sp>
    </p:spTree>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944562"/>
          </a:xfrm>
        </p:spPr>
        <p:txBody>
          <a:bodyPr>
            <a:normAutofit/>
          </a:bodyPr>
          <a:lstStyle/>
          <a:p>
            <a:r>
              <a:rPr lang="en-US" sz="4000" b="1" dirty="0" smtClean="0"/>
              <a:t>10.3 Continual improvement</a:t>
            </a:r>
            <a:endParaRPr lang="en-US" sz="4000" b="1" dirty="0"/>
          </a:p>
        </p:txBody>
      </p:sp>
      <p:sp>
        <p:nvSpPr>
          <p:cNvPr id="3" name="Content Placeholder 2"/>
          <p:cNvSpPr>
            <a:spLocks noGrp="1"/>
          </p:cNvSpPr>
          <p:nvPr>
            <p:ph idx="1"/>
          </p:nvPr>
        </p:nvSpPr>
        <p:spPr>
          <a:xfrm>
            <a:off x="457200" y="1295400"/>
            <a:ext cx="8229600" cy="5181600"/>
          </a:xfrm>
        </p:spPr>
        <p:txBody>
          <a:bodyPr/>
          <a:lstStyle/>
          <a:p>
            <a:pPr algn="r" rtl="1"/>
            <a:r>
              <a:rPr lang="ar-EG" dirty="0" smtClean="0"/>
              <a:t>يلزم التحسين المستمر لنظام ادارة السلامة عن طريق:</a:t>
            </a:r>
          </a:p>
          <a:p>
            <a:pPr algn="r" rtl="1"/>
            <a:r>
              <a:rPr lang="ar-EG" dirty="0" smtClean="0"/>
              <a:t>تحسين اداء السلامة.</a:t>
            </a:r>
          </a:p>
          <a:p>
            <a:pPr algn="r" rtl="1"/>
            <a:r>
              <a:rPr lang="ar-EG" dirty="0" smtClean="0"/>
              <a:t>تعزيز ثقافة السلامة.</a:t>
            </a:r>
          </a:p>
          <a:p>
            <a:pPr algn="r" rtl="1"/>
            <a:r>
              <a:rPr lang="ar-EG" dirty="0" smtClean="0"/>
              <a:t>تعزيز مشاركة العاملين في تنفيذ اجراءات التحسين المستمر.</a:t>
            </a:r>
          </a:p>
          <a:p>
            <a:pPr algn="r" rtl="1"/>
            <a:r>
              <a:rPr lang="ar-EG" dirty="0" smtClean="0"/>
              <a:t>توصيل معلومات التحسين المستمر للعاملين</a:t>
            </a:r>
            <a:endParaRPr lang="en-US"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491</TotalTime>
  <Words>2523</Words>
  <Application>Microsoft Office PowerPoint</Application>
  <PresentationFormat>On-screen Show (4:3)</PresentationFormat>
  <Paragraphs>356</Paragraphs>
  <Slides>63</Slides>
  <Notes>0</Notes>
  <HiddenSlides>0</HiddenSlides>
  <MMClips>0</MMClips>
  <ScaleCrop>false</ScaleCrop>
  <HeadingPairs>
    <vt:vector size="4" baseType="variant">
      <vt:variant>
        <vt:lpstr>Theme</vt:lpstr>
      </vt:variant>
      <vt:variant>
        <vt:i4>1</vt:i4>
      </vt:variant>
      <vt:variant>
        <vt:lpstr>Slide Titles</vt:lpstr>
      </vt:variant>
      <vt:variant>
        <vt:i4>63</vt:i4>
      </vt:variant>
    </vt:vector>
  </HeadingPairs>
  <TitlesOfParts>
    <vt:vector size="64" baseType="lpstr">
      <vt:lpstr>Office Theme</vt:lpstr>
      <vt:lpstr>ISO45001:2018 Occupational Health and Safety Management System OHSMS</vt:lpstr>
      <vt:lpstr>1. Scope المجال </vt:lpstr>
      <vt:lpstr>2. Normative references المراجع </vt:lpstr>
      <vt:lpstr>3. Definitions التعريفات</vt:lpstr>
      <vt:lpstr>3. Definitions التعريفات</vt:lpstr>
      <vt:lpstr>3. Definitions التعريفات</vt:lpstr>
      <vt:lpstr>3. Definitions التعريفات</vt:lpstr>
      <vt:lpstr>4. Context of the Organization</vt:lpstr>
      <vt:lpstr>4.1. Understanding the organization and its context.</vt:lpstr>
      <vt:lpstr>4.2. understanding the needs and expectations of workers and other interested parties.</vt:lpstr>
      <vt:lpstr>4.3. determine the scope of OHSMS.</vt:lpstr>
      <vt:lpstr>4.4. OHSMS.</vt:lpstr>
      <vt:lpstr>5 Leadership and worker participation</vt:lpstr>
      <vt:lpstr>5.1 Leadership and commitment</vt:lpstr>
      <vt:lpstr>5.1 Leadership and commitment</vt:lpstr>
      <vt:lpstr>5.2 OH&amp;S policy</vt:lpstr>
      <vt:lpstr>5.3 Organizational roles, responsibilities and authorities</vt:lpstr>
      <vt:lpstr>5.4 Consultation and participation of workers</vt:lpstr>
      <vt:lpstr>استشارة العاملين في الاتي</vt:lpstr>
      <vt:lpstr>مشاركة العاملين في الاتي</vt:lpstr>
      <vt:lpstr>6 Planning</vt:lpstr>
      <vt:lpstr>6.1 Actions to Address Risks and Opportunities: 6.1.1. General</vt:lpstr>
      <vt:lpstr>6.1.2. Hazard Identification and Assessment of Risks and Opportunities</vt:lpstr>
      <vt:lpstr>6.1.2.1 Hazard identification</vt:lpstr>
      <vt:lpstr>6.1.2.2 Assessment of OH&amp;S risks and other risks to the OH&amp;S management system</vt:lpstr>
      <vt:lpstr>6.1.2.3 Assessment of OH&amp;S opportunities and other opportunities for the OH&amp;S management system</vt:lpstr>
      <vt:lpstr>6.1.3 Determination of legal requirements and other requirements</vt:lpstr>
      <vt:lpstr>6.1.4 Planning action</vt:lpstr>
      <vt:lpstr>6.2 OH&amp;S objectives and planning to achieve them</vt:lpstr>
      <vt:lpstr>6.2.1 OH&amp;S objectives</vt:lpstr>
      <vt:lpstr>6.2.2 Planning to achieve OH&amp;S objectives</vt:lpstr>
      <vt:lpstr>7. Support</vt:lpstr>
      <vt:lpstr>7.1. Resource</vt:lpstr>
      <vt:lpstr>7.2 Competence</vt:lpstr>
      <vt:lpstr>7.3 Awareness</vt:lpstr>
      <vt:lpstr>7.4 Communication</vt:lpstr>
      <vt:lpstr>7.5 Documented information</vt:lpstr>
      <vt:lpstr>7.5 Documented information</vt:lpstr>
      <vt:lpstr>7.5 Documented information</vt:lpstr>
      <vt:lpstr>8 Operation</vt:lpstr>
      <vt:lpstr>8.1.1 Operational planning and control - General</vt:lpstr>
      <vt:lpstr>8.1.2 Eliminating hazards and reducing OH&amp;S risks</vt:lpstr>
      <vt:lpstr>8.1.3 Management of change</vt:lpstr>
      <vt:lpstr>8.1.4 Procurement</vt:lpstr>
      <vt:lpstr>8.1.4.1 General</vt:lpstr>
      <vt:lpstr>8.1.4.2 Contractors</vt:lpstr>
      <vt:lpstr>8.1.4.3 Outsourcing</vt:lpstr>
      <vt:lpstr>8.2 Emergency preparedness and response</vt:lpstr>
      <vt:lpstr>9 Performance evaluation</vt:lpstr>
      <vt:lpstr>9.1 Monitoring, measurement, analysis and performance evaluation </vt:lpstr>
      <vt:lpstr>9.1.1 General</vt:lpstr>
      <vt:lpstr>9.1.1 General</vt:lpstr>
      <vt:lpstr>9.1.2 Evaluation of Compliance</vt:lpstr>
      <vt:lpstr>9.2. Internal Audit 9.2.1 General</vt:lpstr>
      <vt:lpstr>9.2.2 Internal audit program</vt:lpstr>
      <vt:lpstr>9.3 Management review</vt:lpstr>
      <vt:lpstr>9.3 Management review</vt:lpstr>
      <vt:lpstr>9.3 Management review</vt:lpstr>
      <vt:lpstr>10 Improvement 10.1 General</vt:lpstr>
      <vt:lpstr>10.2 Incident, nonconformity and corrective action</vt:lpstr>
      <vt:lpstr>10.2 Incident, nonconformity and corrective action</vt:lpstr>
      <vt:lpstr>10.2 Incident, nonconformity and corrective action</vt:lpstr>
      <vt:lpstr>10.3 Continual improvement</vt:lpstr>
    </vt:vector>
  </TitlesOfParts>
  <Company/>
  <LinksUpToDate>false</LinksUpToDate>
  <SharedDoc>false</SharedDoc>
  <HyperlinksChanged>false</HyperlinksChanged>
  <AppVersion>12.0000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ISO45001:2018 Occupational Health and Safety Management System OHSMS</dc:title>
  <dc:creator>QHSE Consultant</dc:creator>
  <cp:lastModifiedBy>pc</cp:lastModifiedBy>
  <cp:revision>61</cp:revision>
  <dcterms:created xsi:type="dcterms:W3CDTF">2006-08-16T00:00:00Z</dcterms:created>
  <dcterms:modified xsi:type="dcterms:W3CDTF">2018-04-30T11:57:29Z</dcterms:modified>
</cp:coreProperties>
</file>